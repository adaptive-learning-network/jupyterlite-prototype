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4F551A-E186-4983-BC93-AC9BB4C37526}" type="datetimeFigureOut">
              <a:rPr lang="en-US" smtClean="0"/>
              <a:t>10/27/2026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FD2FFC-C16A-42E6-AAB6-56C2B25C1AC1}" type="slidenum">
              <a:rPr lang="en-US" smtClean="0"/>
              <a:t>‹#›</a:t>
            </a:fld>
            <a:endParaRPr lang="en-US"/>
          </a:p>
        </p:txBody>
      </p:sp>
    </p:spTree>
    <p:extLst>
      <p:ext uri="{BB962C8B-B14F-4D97-AF65-F5344CB8AC3E}">
        <p14:creationId xmlns:p14="http://schemas.microsoft.com/office/powerpoint/2010/main" val="38712186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this as a field demonstration of a browser-based course. Participants will see how the notebook connects a surveillance question, data, computation, interpretation, and reflection. Laila is a teaching character. The records shown are invented. Allow about 25 minutes plus discussion, including the three slides on becoming a course contributor. Ask participants to watch for places where instructions or feedback need improvement.
Source: current course Notebook 00 and Unit 1 Notebook 01. Artwork: bundled course teaching comic, laila-unit01-notebook01-comic.png.</a:t>
            </a:r>
          </a:p>
        </p:txBody>
      </p:sp>
      <p:sp>
        <p:nvSpPr>
          <p:cNvPr id="4" name="Slide Number Placeholder 3"/>
          <p:cNvSpPr>
            <a:spLocks noGrp="1"/>
          </p:cNvSpPr>
          <p:nvPr>
            <p:ph type="sldNum" sz="quarter" idx="5"/>
          </p:nvPr>
        </p:nvSpPr>
        <p:spPr/>
        <p:txBody>
          <a:bodyPr/>
          <a:lstStyle/>
          <a:p>
            <a:fld id="{0BFD2FFC-C16A-42E6-AAB6-56C2B25C1AC1}" type="slidenum">
              <a:rPr lang="en-US" smtClean="0"/>
              <a:t>1</a:t>
            </a:fld>
            <a:endParaRPr lang="en-US"/>
          </a:p>
        </p:txBody>
      </p:sp>
    </p:spTree>
    <p:extLst>
      <p:ext uri="{BB962C8B-B14F-4D97-AF65-F5344CB8AC3E}">
        <p14:creationId xmlns:p14="http://schemas.microsoft.com/office/powerpoint/2010/main" val="22769060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introduces the data used again on slide 4. The numbers come from the course's invented weekly reported case counts. For this presentation, explicitly define a training scenario: each number is the count of suspected measles cases reported in that district during one reporting week. Week 1 and Week 2 are consecutive reporting weeks. The disease label and numbered weeks are presentation assumptions added to make the example understandable; the underlying Unit 1 fixture does not specify a disease or calendar dates. The slide identifies the scenario as invented.
Ask the answerable descriptive question: which district has the largest absolute increase in reported cases? Kambia increases by 5, Port Loko by 1, and Bombali decreases by 1. Invite a prediction here, then work through Kambia's calculation on slide 4. These counts do not establish incidence, relative disease risk, outbreak status, or a complete priority ranking. Those interpretations require additional information such as population, reporting completeness, consistent case definitions, and verification of the underlying reports. Reporting week describes when cases were reported, not necessarily when illness began. Keep the discussion about what the available data can answer.
Source: scripts/make_unit01_pilot.py, WEEKLY_COUNTS. Presentation context added 27 October 2026.</a:t>
            </a:r>
          </a:p>
        </p:txBody>
      </p:sp>
      <p:sp>
        <p:nvSpPr>
          <p:cNvPr id="4" name="Slide Number Placeholder 3"/>
          <p:cNvSpPr>
            <a:spLocks noGrp="1"/>
          </p:cNvSpPr>
          <p:nvPr>
            <p:ph type="sldNum" sz="quarter" idx="5"/>
          </p:nvPr>
        </p:nvSpPr>
        <p:spPr/>
        <p:txBody>
          <a:bodyPr/>
          <a:lstStyle/>
          <a:p>
            <a:fld id="{0BFD2FFC-C16A-42E6-AAB6-56C2B25C1AC1}" type="slidenum">
              <a:rPr lang="en-US" smtClean="0"/>
              <a:t>2</a:t>
            </a:fld>
            <a:endParaRPr lang="en-US"/>
          </a:p>
        </p:txBody>
      </p:sp>
    </p:spTree>
    <p:extLst>
      <p:ext uri="{BB962C8B-B14F-4D97-AF65-F5344CB8AC3E}">
        <p14:creationId xmlns:p14="http://schemas.microsoft.com/office/powerpoint/2010/main" val="29779534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JupyterLite provides a computing workspace that runs in the browser. This course runs Python in the browser and does not require learners to install desktop Python. First load the course link. Open Notebook 00, named Start here, and use its Course contents links to open an activity. The file browser also lists the notebooks. The Learning panel offers a few suggested activities, while Notebook 00 provides the full course sequence. Point out each area on the screenshot before continuing. Initial loading requires access to the site and its resources.
Technical source: https://jupyterlite.readthedocs.io/en/stable/
Storage and usage: https://jupyterlite.readthedocs.io/en/stable/quickstart/using.html
Screenshot: current public course, Notebook 00, captured 23 October 2026.
Course start: https://adaptive-learning-network.github.io/jupyterlite-prototype/lab/index.html?path=notebooks/u00-n00-start-here.ipynb</a:t>
            </a:r>
          </a:p>
        </p:txBody>
      </p:sp>
      <p:sp>
        <p:nvSpPr>
          <p:cNvPr id="4" name="Slide Number Placeholder 3"/>
          <p:cNvSpPr>
            <a:spLocks noGrp="1"/>
          </p:cNvSpPr>
          <p:nvPr>
            <p:ph type="sldNum" sz="quarter" idx="5"/>
          </p:nvPr>
        </p:nvSpPr>
        <p:spPr/>
        <p:txBody>
          <a:bodyPr/>
          <a:lstStyle/>
          <a:p>
            <a:fld id="{0BFD2FFC-C16A-42E6-AAB6-56C2B25C1AC1}" type="slidenum">
              <a:rPr lang="en-US" smtClean="0"/>
              <a:t>3</a:t>
            </a:fld>
            <a:endParaRPr lang="en-US"/>
          </a:p>
        </p:txBody>
      </p:sp>
    </p:spTree>
    <p:extLst>
      <p:ext uri="{BB962C8B-B14F-4D97-AF65-F5344CB8AC3E}">
        <p14:creationId xmlns:p14="http://schemas.microsoft.com/office/powerpoint/2010/main" val="28282757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computational narrative connects an explanation to executable steps and the results those steps produce. Return explicitly to the invented suspected-measles reporting scenario on slide 2. Kambia's counts are 2 in Week 1 and 7 in Week 2. Ask how much that reported count changed. The visible Python calculation subtracts Week 1 from Week 2 and gives an increase of 5 reported cases. The other districts change by 1 and minus 1 respectively, so Kambia has the largest absolute increase among these three rows. This is a comparison of reported counts, not an epidemiologic priority score or an outbreak determination.
A learner can inspect the inputs and run the calculation. The interpretation should match the data: Kambia's reported count rose by 5, while the reason remains to be verified. In a notebook, read cells from top to bottom. Select a code cell and use the Run control or Shift+Enter. Output appears below that cell. A separate Submit control records an assessed answer when the activity asks for one.
Source: Unit 1 Notebook 01 and scripts/make_unit01_pilot.py. This slide simplifies the calculation for explanation and uses the explicit training scenario introduced on slide 2. Revised together with slide 2 on 27 October 2026.
Notebook concepts: https://docs.jupyter.org/en/latest/</a:t>
            </a:r>
          </a:p>
        </p:txBody>
      </p:sp>
      <p:sp>
        <p:nvSpPr>
          <p:cNvPr id="4" name="Slide Number Placeholder 3"/>
          <p:cNvSpPr>
            <a:spLocks noGrp="1"/>
          </p:cNvSpPr>
          <p:nvPr>
            <p:ph type="sldNum" sz="quarter" idx="5"/>
          </p:nvPr>
        </p:nvSpPr>
        <p:spPr/>
        <p:txBody>
          <a:bodyPr/>
          <a:lstStyle/>
          <a:p>
            <a:fld id="{0BFD2FFC-C16A-42E6-AAB6-56C2B25C1AC1}" type="slidenum">
              <a:rPr lang="en-US" smtClean="0"/>
              <a:t>4</a:t>
            </a:fld>
            <a:endParaRPr lang="en-US"/>
          </a:p>
        </p:txBody>
      </p:sp>
    </p:spTree>
    <p:extLst>
      <p:ext uri="{BB962C8B-B14F-4D97-AF65-F5344CB8AC3E}">
        <p14:creationId xmlns:p14="http://schemas.microsoft.com/office/powerpoint/2010/main" val="20397364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the visible learning task to explain the ecosystem. A notebook is the document combining narrative, code, and outputs. JupyterLab is the workspace interface with tabs, files, and Run controls. JupyterLite brings that workspace into the browser. Python and compatible libraries calculate and display results. Interactive controls collect answers and reflections. Our custom adaptive-learning extension adds rules-based feedback, a local learner record, and suggested activities. These custom course features are distinct from the underlying JupyterLite platform. Do not imply that every Python package or JupyterLab extension runs in JupyterLite.
Sources: https://jupyterlite.readthedocs.io/en/stable/ and https://jupyterlite.readthedocs.io/en/stable/quickstart/using.html; repository README and current extension implementation.</a:t>
            </a:r>
          </a:p>
        </p:txBody>
      </p:sp>
      <p:sp>
        <p:nvSpPr>
          <p:cNvPr id="4" name="Slide Number Placeholder 3"/>
          <p:cNvSpPr>
            <a:spLocks noGrp="1"/>
          </p:cNvSpPr>
          <p:nvPr>
            <p:ph type="sldNum" sz="quarter" idx="5"/>
          </p:nvPr>
        </p:nvSpPr>
        <p:spPr/>
        <p:txBody>
          <a:bodyPr/>
          <a:lstStyle/>
          <a:p>
            <a:fld id="{0BFD2FFC-C16A-42E6-AAB6-56C2B25C1AC1}" type="slidenum">
              <a:rPr lang="en-US" smtClean="0"/>
              <a:t>5</a:t>
            </a:fld>
            <a:endParaRPr lang="en-US"/>
          </a:p>
        </p:txBody>
      </p:sp>
    </p:spTree>
    <p:extLst>
      <p:ext uri="{BB962C8B-B14F-4D97-AF65-F5344CB8AC3E}">
        <p14:creationId xmlns:p14="http://schemas.microsoft.com/office/powerpoint/2010/main" val="4730235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 this as a proposed facilitation approach, not a measured learning effect. Before running the calculation, ask participants to predict which district stands out. Let them try it, inspect the result, and explain what it means. A revision should include a reason. Then change the example and ask them to apply the same reasoning. A facilitator can pause at any step for paired explanation or a group discussion. The computational narrative keeps the data and method available for inspection rather than asking participants to accept the output without examining how it was produced.
Sources: proposed instructional sequence in field-demo-presentation-plan.md; shipped Unit 1 and U03-N06 activities. Educational effectiveness remains unvalidated.</a:t>
            </a:r>
          </a:p>
        </p:txBody>
      </p:sp>
      <p:sp>
        <p:nvSpPr>
          <p:cNvPr id="4" name="Slide Number Placeholder 3"/>
          <p:cNvSpPr>
            <a:spLocks noGrp="1"/>
          </p:cNvSpPr>
          <p:nvPr>
            <p:ph type="sldNum" sz="quarter" idx="5"/>
          </p:nvPr>
        </p:nvSpPr>
        <p:spPr/>
        <p:txBody>
          <a:bodyPr/>
          <a:lstStyle/>
          <a:p>
            <a:fld id="{0BFD2FFC-C16A-42E6-AAB6-56C2B25C1AC1}" type="slidenum">
              <a:rPr lang="en-US" smtClean="0"/>
              <a:t>6</a:t>
            </a:fld>
            <a:endParaRPr lang="en-US"/>
          </a:p>
        </p:txBody>
      </p:sp>
    </p:spTree>
    <p:extLst>
      <p:ext uri="{BB962C8B-B14F-4D97-AF65-F5344CB8AC3E}">
        <p14:creationId xmlns:p14="http://schemas.microsoft.com/office/powerpoint/2010/main" val="41375767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Show this as an actual result of a submitted response. The learner receives per-table feedback. In U03-N06, the feedback also directs attention to the meaning of a row. Hints are authored help. The extension records submitted outcomes and recorded guidance. The Learning panel uses authored curriculum rules and recorded results to suggest activities and explain their reasons. The full course sequence stays available. Learners explicitly submit answers. Running setup or computation alone does not record an assessed attempt. The prototype uses deterministic assessment and authored help rather than a conversational model diagnosing the learner.
Source: current public U03-N06 screenshot and docs/design/classification-reassessment-pilot.md. The illustrated feedback is from invented training tables.</a:t>
            </a:r>
          </a:p>
        </p:txBody>
      </p:sp>
      <p:sp>
        <p:nvSpPr>
          <p:cNvPr id="4" name="Slide Number Placeholder 3"/>
          <p:cNvSpPr>
            <a:spLocks noGrp="1"/>
          </p:cNvSpPr>
          <p:nvPr>
            <p:ph type="sldNum" sz="quarter" idx="5"/>
          </p:nvPr>
        </p:nvSpPr>
        <p:spPr/>
        <p:txBody>
          <a:bodyPr/>
          <a:lstStyle/>
          <a:p>
            <a:fld id="{0BFD2FFC-C16A-42E6-AAB6-56C2B25C1AC1}" type="slidenum">
              <a:rPr lang="en-US" smtClean="0"/>
              <a:t>7</a:t>
            </a:fld>
            <a:endParaRPr lang="en-US"/>
          </a:p>
        </p:txBody>
      </p:sp>
    </p:spTree>
    <p:extLst>
      <p:ext uri="{BB962C8B-B14F-4D97-AF65-F5344CB8AC3E}">
        <p14:creationId xmlns:p14="http://schemas.microsoft.com/office/powerpoint/2010/main" val="17530920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these close-ups of the actual Learning panel to orient participants. Suggested next lists activities and the reasons for suggesting them. Open takes the learner to the activity. This exercise identifies the current task and shows its available support or task progress. Progress summarizes recorded task results. The snapshots show an invented demonstration learner who completed the classification activity but has not yet attempted the earlier tasks. This explains why the suggestions still include earlier course activities. The panel records only submitted attempts and recorded help. It does not infer every action or thought, and the estimates do not certify workplace proficiency.
Source: current public Learning panel and src/extension/panel.ts, captured 23 October 2026. The progress image shows the beginning of a longer scrollable list.</a:t>
            </a:r>
          </a:p>
        </p:txBody>
      </p:sp>
      <p:sp>
        <p:nvSpPr>
          <p:cNvPr id="4" name="Slide Number Placeholder 3"/>
          <p:cNvSpPr>
            <a:spLocks noGrp="1"/>
          </p:cNvSpPr>
          <p:nvPr>
            <p:ph type="sldNum" sz="quarter" idx="5"/>
          </p:nvPr>
        </p:nvSpPr>
        <p:spPr/>
        <p:txBody>
          <a:bodyPr/>
          <a:lstStyle/>
          <a:p>
            <a:fld id="{0BFD2FFC-C16A-42E6-AAB6-56C2B25C1AC1}" type="slidenum">
              <a:rPr lang="en-US" smtClean="0"/>
              <a:t>8</a:t>
            </a:fld>
            <a:endParaRPr lang="en-US"/>
          </a:p>
        </p:txBody>
      </p:sp>
    </p:spTree>
    <p:extLst>
      <p:ext uri="{BB962C8B-B14F-4D97-AF65-F5344CB8AC3E}">
        <p14:creationId xmlns:p14="http://schemas.microsoft.com/office/powerpoint/2010/main" val="15885753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the distinction in this bounded U03-N06 pilot. Practice can include hints and corrections after feedback. Try another case opens a different authored set that this browser learner has not already seen. Hints are unavailable during that check. A correct first complete submission supports the task-specific label Demonstrated on a different case. Once the learner has seen correctness feedback, correcting that same case remains practice. The earlier assisted attempt stays in the history. This policy currently applies to U03-N06, not to every notebook. No recorded hints does not prove absence of outside help. The task result does not establish workplace proficiency or retention.
Source: docs/design/classification-reassessment-pilot.md; catalog/case-aggregate-v1.json. Screenshots: current published course, captured 23 October 2026.</a:t>
            </a:r>
          </a:p>
        </p:txBody>
      </p:sp>
      <p:sp>
        <p:nvSpPr>
          <p:cNvPr id="4" name="Slide Number Placeholder 3"/>
          <p:cNvSpPr>
            <a:spLocks noGrp="1"/>
          </p:cNvSpPr>
          <p:nvPr>
            <p:ph type="sldNum" sz="quarter" idx="5"/>
          </p:nvPr>
        </p:nvSpPr>
        <p:spPr/>
        <p:txBody>
          <a:bodyPr/>
          <a:lstStyle/>
          <a:p>
            <a:fld id="{0BFD2FFC-C16A-42E6-AAB6-56C2B25C1AC1}" type="slidenum">
              <a:rPr lang="en-US" smtClean="0"/>
              <a:t>9</a:t>
            </a:fld>
            <a:endParaRPr lang="en-US"/>
          </a:p>
        </p:txBody>
      </p:sp>
    </p:spTree>
    <p:extLst>
      <p:ext uri="{BB962C8B-B14F-4D97-AF65-F5344CB8AC3E}">
        <p14:creationId xmlns:p14="http://schemas.microsoft.com/office/powerpoint/2010/main" val="22969025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the linked U03-N06 activity for the four-minute live demonstration. First run the collapsed setup cell using the notebook Run control or Run All Cells. Select a classification for every table. Submit a prepared set containing one deliberate mistake, read the feedback, request a hint, and correct the practice answer. Then choose Try another case and classify the different tables. Explain the resulting progress label. The first screenshot is an individual case register. The second is a different-case table. These embedded screenshots provide a fallback if the live site cannot load. Say explicitly when showing the recorded example.
The pool has three different-case sets. Rehearse with a separate disposable demonstration browser profile. Preserve genuine learner work.
Direct demo: https://adaptive-learning-network.github.io/jupyterlite-prototype/lab/index.html?path=notebooks/u03-n06-case-or-aggregate.ipynb
Screenshots captured from that public activity on 23 October 2026.</a:t>
            </a:r>
          </a:p>
        </p:txBody>
      </p:sp>
      <p:sp>
        <p:nvSpPr>
          <p:cNvPr id="4" name="Slide Number Placeholder 3"/>
          <p:cNvSpPr>
            <a:spLocks noGrp="1"/>
          </p:cNvSpPr>
          <p:nvPr>
            <p:ph type="sldNum" sz="quarter" idx="5"/>
          </p:nvPr>
        </p:nvSpPr>
        <p:spPr/>
        <p:txBody>
          <a:bodyPr/>
          <a:lstStyle/>
          <a:p>
            <a:fld id="{0BFD2FFC-C16A-42E6-AAB6-56C2B25C1AC1}" type="slidenum">
              <a:rPr lang="en-US" smtClean="0"/>
              <a:t>10</a:t>
            </a:fld>
            <a:endParaRPr lang="en-US"/>
          </a:p>
        </p:txBody>
      </p:sp>
    </p:spTree>
    <p:extLst>
      <p:ext uri="{BB962C8B-B14F-4D97-AF65-F5344CB8AC3E}">
        <p14:creationId xmlns:p14="http://schemas.microsoft.com/office/powerpoint/2010/main" val="11967281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the screenshot to show the reflection question, the entered reasoning, the Record button, and the save confirmation. Learners must select Record to retain their writing in the browser record. The writing is unscored and does not automatically change capability estimates. My learning record displays submitted attempts and task progress alongside recorded reflections. Storage belongs to the current browser and site. Opening another browser, another device, or another site does not automatically transfer the record. Clearing browser data can remove it. Evidence, reflections, and edited notebooks have separate download routes. These copies do not provide automatic restoration. Explain those details if participants ask, and include them in the handout.
Sources: docs/design/browser-storage.md; current extension and reflection widgets. General browser storage: https://jupyterlite.readthedocs.io/en/stable/quickstart/using.html
Screenshot: invented demonstration reflection captured 23 October 2026.</a:t>
            </a:r>
          </a:p>
        </p:txBody>
      </p:sp>
      <p:sp>
        <p:nvSpPr>
          <p:cNvPr id="4" name="Slide Number Placeholder 3"/>
          <p:cNvSpPr>
            <a:spLocks noGrp="1"/>
          </p:cNvSpPr>
          <p:nvPr>
            <p:ph type="sldNum" sz="quarter" idx="5"/>
          </p:nvPr>
        </p:nvSpPr>
        <p:spPr/>
        <p:txBody>
          <a:bodyPr/>
          <a:lstStyle/>
          <a:p>
            <a:fld id="{0BFD2FFC-C16A-42E6-AAB6-56C2B25C1AC1}" type="slidenum">
              <a:rPr lang="en-US" smtClean="0"/>
              <a:t>11</a:t>
            </a:fld>
            <a:endParaRPr lang="en-US"/>
          </a:p>
        </p:txBody>
      </p:sp>
    </p:spTree>
    <p:extLst>
      <p:ext uri="{BB962C8B-B14F-4D97-AF65-F5344CB8AC3E}">
        <p14:creationId xmlns:p14="http://schemas.microsoft.com/office/powerpoint/2010/main" val="23364802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Offer these prompts during the same surveillance-table exercise. The first asks for an explanation of the data rather than recognition of a label. The second asks the learner to connect feedback to a revision. The third connects the learning activity to field practice and the need to verify a report. Participants can first answer individually and then compare explanations in pairs. Facilitators can listen for misunderstandings and choose examples for a group discussion. The browser-local record belongs to the learner. This prototype does not provide an automatic facilitator dashboard or upload learner records to an instructor.
Source: proposed field facilitation approach; current course reflection prompts and storage design. No claim of demonstrated learning effectiveness.</a:t>
            </a:r>
          </a:p>
        </p:txBody>
      </p:sp>
      <p:sp>
        <p:nvSpPr>
          <p:cNvPr id="4" name="Slide Number Placeholder 3"/>
          <p:cNvSpPr>
            <a:spLocks noGrp="1"/>
          </p:cNvSpPr>
          <p:nvPr>
            <p:ph type="sldNum" sz="quarter" idx="5"/>
          </p:nvPr>
        </p:nvSpPr>
        <p:spPr/>
        <p:txBody>
          <a:bodyPr/>
          <a:lstStyle/>
          <a:p>
            <a:fld id="{0BFD2FFC-C16A-42E6-AAB6-56C2B25C1AC1}" type="slidenum">
              <a:rPr lang="en-US" smtClean="0"/>
              <a:t>12</a:t>
            </a:fld>
            <a:endParaRPr lang="en-US"/>
          </a:p>
        </p:txBody>
      </p:sp>
    </p:spTree>
    <p:extLst>
      <p:ext uri="{BB962C8B-B14F-4D97-AF65-F5344CB8AC3E}">
        <p14:creationId xmlns:p14="http://schemas.microsoft.com/office/powerpoint/2010/main" val="34760108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changes the audience's role from completing the course to producing its next version. Epidemiologists contribute knowledge of field work, realistic questions, public health meaning, and appropriate local examples. They can use an approved AI assistant alongside the course to help draft explanations, code, controls, and checks. The AI authoring assistant is separate from this prototype's deterministic adaptive-learning extension. No conversational AI model is embedded in the current learner workflow.
Use this actual kind of problem from development: a reflection prompt says Write your reasoning, but offers no response field. A contributor can specify a text field, an explicit Record action, and restoration after reload. Ask for one bounded change and its review steps. Supply invented data. Describe the intended learner outcome so that the contributor can evaluate the proposed implementation. Participation can begin by specifying and reviewing an improvement with a maintainer, without independently managing the publishing tools.
Sources: course development history; docs/audit/pre-field-test-audit.md, response-widget findings; docs/design/browser-storage.md. The suggested authoring workflow is a practical proposal, not a validated learning result.</a:t>
            </a:r>
          </a:p>
        </p:txBody>
      </p:sp>
      <p:sp>
        <p:nvSpPr>
          <p:cNvPr id="4" name="Slide Number Placeholder 3"/>
          <p:cNvSpPr>
            <a:spLocks noGrp="1"/>
          </p:cNvSpPr>
          <p:nvPr>
            <p:ph type="sldNum" sz="quarter" idx="5"/>
          </p:nvPr>
        </p:nvSpPr>
        <p:spPr/>
        <p:txBody>
          <a:bodyPr/>
          <a:lstStyle/>
          <a:p>
            <a:fld id="{0BFD2FFC-C16A-42E6-AAB6-56C2B25C1AC1}" type="slidenum">
              <a:rPr lang="en-US" smtClean="0"/>
              <a:t>13</a:t>
            </a:fld>
            <a:endParaRPr lang="en-US"/>
          </a:p>
        </p:txBody>
      </p:sp>
    </p:spTree>
    <p:extLst>
      <p:ext uri="{BB962C8B-B14F-4D97-AF65-F5344CB8AC3E}">
        <p14:creationId xmlns:p14="http://schemas.microsoft.com/office/powerpoint/2010/main" val="21465204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Describe the workflow we have used in this course in terms a field epidemiologist can participate in. First identify one learner problem, naming the notebook and including the exact sentence or a screenshot with invented data. State what the learner should be able to do. Next ask the AI assistant to inspect the current material and propose a small change before editing. Inspect the actual source and any supporting references. Revise the source and regenerate the notebook where the course uses generators.
Try the revised activity in the local browser as a learner: use a correct answer, an incorrect answer, and an incomplete response. Check that feedback explains the outcome. For a reflection, record text and reload to check that it returns. Review the public health meaning with an epidemiologist and have a colleague try the activity. Record what changed and why. After course-owner review, a maintainer commits, pushes, publishes, replicates, and checks the public site with a fresh browser profile as well as preservation of returning learner work. A successful build alone does not establish useful teaching. Keep the contributor's field judgment visible throughout.
Sources: this course's implemented review and release workflow; docs/audit/pre-field-test-audit.md; AGENTS.md source/generation, preview, and release requirements. This is a practical contributor workflow adapted from development experience.</a:t>
            </a:r>
          </a:p>
        </p:txBody>
      </p:sp>
      <p:sp>
        <p:nvSpPr>
          <p:cNvPr id="4" name="Slide Number Placeholder 3"/>
          <p:cNvSpPr>
            <a:spLocks noGrp="1"/>
          </p:cNvSpPr>
          <p:nvPr>
            <p:ph type="sldNum" sz="quarter" idx="5"/>
          </p:nvPr>
        </p:nvSpPr>
        <p:spPr/>
        <p:txBody>
          <a:bodyPr/>
          <a:lstStyle/>
          <a:p>
            <a:fld id="{0BFD2FFC-C16A-42E6-AAB6-56C2B25C1AC1}" type="slidenum">
              <a:rPr lang="en-US" smtClean="0"/>
              <a:t>14</a:t>
            </a:fld>
            <a:endParaRPr lang="en-US"/>
          </a:p>
        </p:txBody>
      </p:sp>
    </p:spTree>
    <p:extLst>
      <p:ext uri="{BB962C8B-B14F-4D97-AF65-F5344CB8AC3E}">
        <p14:creationId xmlns:p14="http://schemas.microsoft.com/office/powerpoint/2010/main" val="4015222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 can propose plausible but wrong content, code, or citations. Epidemiologists provide the domain review that checks what a revised activity actually means. Use the earlier development example: an eight-year-old cannot correctly receive the category under 5. A program running without an error does not show that its categories match the public health question. Compare the data, expected answer, explanation, and actual feedback. Read each cited source to confirm that it supports the claim. Have a colleague attempt the activity without coaching and note where they hesitate.
Keep a short explanation of the change, the source checked, and the checks performed with the revised activity. A course owner reviews the contribution before release. These actions apply to improving teaching materials. Use invented training data and the organization's approved AI tools and sharing process. Do not imply that the current course automatically transmits content to an external AI service.
Sources: course development history and pre-field audit. General supporting guidance: NIST AI 600-1 (2024), sections 2.2 and MEASURE 2.5, including review of generated sources and citations. https://nvlpubs.nist.gov/nistpubs/ai/NIST.AI.600-1.pdf (checked 23 October 2026). The local workflow is our adaptation, not a NIST certification.</a:t>
            </a:r>
          </a:p>
        </p:txBody>
      </p:sp>
      <p:sp>
        <p:nvSpPr>
          <p:cNvPr id="4" name="Slide Number Placeholder 3"/>
          <p:cNvSpPr>
            <a:spLocks noGrp="1"/>
          </p:cNvSpPr>
          <p:nvPr>
            <p:ph type="sldNum" sz="quarter" idx="5"/>
          </p:nvPr>
        </p:nvSpPr>
        <p:spPr/>
        <p:txBody>
          <a:bodyPr/>
          <a:lstStyle/>
          <a:p>
            <a:fld id="{0BFD2FFC-C16A-42E6-AAB6-56C2B25C1AC1}" type="slidenum">
              <a:rPr lang="en-US" smtClean="0"/>
              <a:t>15</a:t>
            </a:fld>
            <a:endParaRPr lang="en-US"/>
          </a:p>
        </p:txBody>
      </p:sp>
    </p:spTree>
    <p:extLst>
      <p:ext uri="{BB962C8B-B14F-4D97-AF65-F5344CB8AC3E}">
        <p14:creationId xmlns:p14="http://schemas.microsoft.com/office/powerpoint/2010/main" val="11230006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Invite participants to try the public course and comment on the instructions and feedback. Ask whether they could find the starting point, understand the task, interpret the feedback, choose a next step, and explain an unfamiliar example. Observe what they do and ask them to explain their reasoning. Successful software checks establish observed application behavior. Field observation is needed to assess clarity, usability, and learning. Record proposed improvements separately from demonstrated outcomes.
Course start: https://adaptive-learning-network.github.io/jupyterlite-prototype/lab/index.html?path=notebooks/u00-n00-start-here.ipynb
Technical references: https://jupyterlite.readthedocs.io/en/stable/ and https://jupyterlite.readthedocs.io/en/stable/quickstart/using.html
Course references: FETP Public Health Informatics course materials used with permission, acknowledged in Notebook 00 References. Internal planning evidence: docs/audit/pre-field-test-audit.md and docs/design/classification-reassessment-pilot.md.
Presentation prepared 23 October 2026. The screenshots contain invented data and demonstration responses.</a:t>
            </a:r>
          </a:p>
        </p:txBody>
      </p:sp>
      <p:sp>
        <p:nvSpPr>
          <p:cNvPr id="4" name="Slide Number Placeholder 3"/>
          <p:cNvSpPr>
            <a:spLocks noGrp="1"/>
          </p:cNvSpPr>
          <p:nvPr>
            <p:ph type="sldNum" sz="quarter" idx="5"/>
          </p:nvPr>
        </p:nvSpPr>
        <p:spPr/>
        <p:txBody>
          <a:bodyPr/>
          <a:lstStyle/>
          <a:p>
            <a:fld id="{0BFD2FFC-C16A-42E6-AAB6-56C2B25C1AC1}" type="slidenum">
              <a:rPr lang="en-US" smtClean="0"/>
              <a:t>16</a:t>
            </a:fld>
            <a:endParaRPr lang="en-US"/>
          </a:p>
        </p:txBody>
      </p:sp>
    </p:spTree>
    <p:extLst>
      <p:ext uri="{BB962C8B-B14F-4D97-AF65-F5344CB8AC3E}">
        <p14:creationId xmlns:p14="http://schemas.microsoft.com/office/powerpoint/2010/main" val="24868936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77B09-AF54-E496-25E5-5CC34AB7222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A98B223-9F4F-DEF1-BA04-E564C32E8A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92BF169-6645-B29B-5908-479F50FDE524}"/>
              </a:ext>
            </a:extLst>
          </p:cNvPr>
          <p:cNvSpPr>
            <a:spLocks noGrp="1"/>
          </p:cNvSpPr>
          <p:nvPr>
            <p:ph type="dt" sz="half" idx="10"/>
          </p:nvPr>
        </p:nvSpPr>
        <p:spPr/>
        <p:txBody>
          <a:bodyPr/>
          <a:lstStyle/>
          <a:p>
            <a:fld id="{EB11718B-733F-446C-BAB5-2D76C3AD54E7}" type="datetimeFigureOut">
              <a:rPr lang="en-US" smtClean="0"/>
              <a:t>10/27/2026</a:t>
            </a:fld>
            <a:endParaRPr lang="en-US"/>
          </a:p>
        </p:txBody>
      </p:sp>
      <p:sp>
        <p:nvSpPr>
          <p:cNvPr id="5" name="Footer Placeholder 4">
            <a:extLst>
              <a:ext uri="{FF2B5EF4-FFF2-40B4-BE49-F238E27FC236}">
                <a16:creationId xmlns:a16="http://schemas.microsoft.com/office/drawing/2014/main" id="{03D3FA34-60D5-8057-0B0D-06D850FFCF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0CD49A-B0E4-1FF8-8394-EB98914D35C1}"/>
              </a:ext>
            </a:extLst>
          </p:cNvPr>
          <p:cNvSpPr>
            <a:spLocks noGrp="1"/>
          </p:cNvSpPr>
          <p:nvPr>
            <p:ph type="sldNum" sz="quarter" idx="12"/>
          </p:nvPr>
        </p:nvSpPr>
        <p:spPr/>
        <p:txBody>
          <a:bodyPr/>
          <a:lstStyle/>
          <a:p>
            <a:fld id="{2676B493-B359-4468-9CA2-6059FFC9A7CC}" type="slidenum">
              <a:rPr lang="en-US" smtClean="0"/>
              <a:t>‹#›</a:t>
            </a:fld>
            <a:endParaRPr lang="en-US"/>
          </a:p>
        </p:txBody>
      </p:sp>
    </p:spTree>
    <p:extLst>
      <p:ext uri="{BB962C8B-B14F-4D97-AF65-F5344CB8AC3E}">
        <p14:creationId xmlns:p14="http://schemas.microsoft.com/office/powerpoint/2010/main" val="2847984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640D0-DEB5-8A47-6F45-EB0F89F68D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821086-0843-AE10-311A-CB8EAFBA67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BAE1EC-A735-8DD8-3E6F-B90EF60E77B1}"/>
              </a:ext>
            </a:extLst>
          </p:cNvPr>
          <p:cNvSpPr>
            <a:spLocks noGrp="1"/>
          </p:cNvSpPr>
          <p:nvPr>
            <p:ph type="dt" sz="half" idx="10"/>
          </p:nvPr>
        </p:nvSpPr>
        <p:spPr/>
        <p:txBody>
          <a:bodyPr/>
          <a:lstStyle/>
          <a:p>
            <a:fld id="{EB11718B-733F-446C-BAB5-2D76C3AD54E7}" type="datetimeFigureOut">
              <a:rPr lang="en-US" smtClean="0"/>
              <a:t>10/27/2026</a:t>
            </a:fld>
            <a:endParaRPr lang="en-US"/>
          </a:p>
        </p:txBody>
      </p:sp>
      <p:sp>
        <p:nvSpPr>
          <p:cNvPr id="5" name="Footer Placeholder 4">
            <a:extLst>
              <a:ext uri="{FF2B5EF4-FFF2-40B4-BE49-F238E27FC236}">
                <a16:creationId xmlns:a16="http://schemas.microsoft.com/office/drawing/2014/main" id="{88517C65-EAA9-7611-D577-7062365585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9C0568-797F-A9BE-3C38-99369EBAE182}"/>
              </a:ext>
            </a:extLst>
          </p:cNvPr>
          <p:cNvSpPr>
            <a:spLocks noGrp="1"/>
          </p:cNvSpPr>
          <p:nvPr>
            <p:ph type="sldNum" sz="quarter" idx="12"/>
          </p:nvPr>
        </p:nvSpPr>
        <p:spPr/>
        <p:txBody>
          <a:bodyPr/>
          <a:lstStyle/>
          <a:p>
            <a:fld id="{2676B493-B359-4468-9CA2-6059FFC9A7CC}" type="slidenum">
              <a:rPr lang="en-US" smtClean="0"/>
              <a:t>‹#›</a:t>
            </a:fld>
            <a:endParaRPr lang="en-US"/>
          </a:p>
        </p:txBody>
      </p:sp>
    </p:spTree>
    <p:extLst>
      <p:ext uri="{BB962C8B-B14F-4D97-AF65-F5344CB8AC3E}">
        <p14:creationId xmlns:p14="http://schemas.microsoft.com/office/powerpoint/2010/main" val="3106856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510BB-222B-BBB6-68B6-69E13E93BC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3847621-7C6A-152E-5F70-9B960DDAD26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99A9F9-5C8C-C988-D729-F8FEACF77B20}"/>
              </a:ext>
            </a:extLst>
          </p:cNvPr>
          <p:cNvSpPr>
            <a:spLocks noGrp="1"/>
          </p:cNvSpPr>
          <p:nvPr>
            <p:ph type="dt" sz="half" idx="10"/>
          </p:nvPr>
        </p:nvSpPr>
        <p:spPr/>
        <p:txBody>
          <a:bodyPr/>
          <a:lstStyle/>
          <a:p>
            <a:fld id="{EB11718B-733F-446C-BAB5-2D76C3AD54E7}" type="datetimeFigureOut">
              <a:rPr lang="en-US" smtClean="0"/>
              <a:t>10/27/2026</a:t>
            </a:fld>
            <a:endParaRPr lang="en-US"/>
          </a:p>
        </p:txBody>
      </p:sp>
      <p:sp>
        <p:nvSpPr>
          <p:cNvPr id="5" name="Footer Placeholder 4">
            <a:extLst>
              <a:ext uri="{FF2B5EF4-FFF2-40B4-BE49-F238E27FC236}">
                <a16:creationId xmlns:a16="http://schemas.microsoft.com/office/drawing/2014/main" id="{624B2AB4-64B4-8C19-3B8E-E37371DC2A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9A7830-3DA3-AC20-F548-6360602B0FF7}"/>
              </a:ext>
            </a:extLst>
          </p:cNvPr>
          <p:cNvSpPr>
            <a:spLocks noGrp="1"/>
          </p:cNvSpPr>
          <p:nvPr>
            <p:ph type="sldNum" sz="quarter" idx="12"/>
          </p:nvPr>
        </p:nvSpPr>
        <p:spPr/>
        <p:txBody>
          <a:bodyPr/>
          <a:lstStyle/>
          <a:p>
            <a:fld id="{2676B493-B359-4468-9CA2-6059FFC9A7CC}" type="slidenum">
              <a:rPr lang="en-US" smtClean="0"/>
              <a:t>‹#›</a:t>
            </a:fld>
            <a:endParaRPr lang="en-US"/>
          </a:p>
        </p:txBody>
      </p:sp>
    </p:spTree>
    <p:extLst>
      <p:ext uri="{BB962C8B-B14F-4D97-AF65-F5344CB8AC3E}">
        <p14:creationId xmlns:p14="http://schemas.microsoft.com/office/powerpoint/2010/main" val="492599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7B287-0331-FE6B-5608-3FBF58819D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6E3120-442C-2FE4-BAF9-73CE65EA46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B515E1-F75C-912F-BB54-60368898BD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1549CB-B4BA-E58F-BB0E-588A83A05E18}"/>
              </a:ext>
            </a:extLst>
          </p:cNvPr>
          <p:cNvSpPr>
            <a:spLocks noGrp="1"/>
          </p:cNvSpPr>
          <p:nvPr>
            <p:ph type="dt" sz="half" idx="10"/>
          </p:nvPr>
        </p:nvSpPr>
        <p:spPr/>
        <p:txBody>
          <a:bodyPr/>
          <a:lstStyle/>
          <a:p>
            <a:fld id="{EB11718B-733F-446C-BAB5-2D76C3AD54E7}" type="datetimeFigureOut">
              <a:rPr lang="en-US" smtClean="0"/>
              <a:t>10/27/2026</a:t>
            </a:fld>
            <a:endParaRPr lang="en-US"/>
          </a:p>
        </p:txBody>
      </p:sp>
      <p:sp>
        <p:nvSpPr>
          <p:cNvPr id="6" name="Footer Placeholder 5">
            <a:extLst>
              <a:ext uri="{FF2B5EF4-FFF2-40B4-BE49-F238E27FC236}">
                <a16:creationId xmlns:a16="http://schemas.microsoft.com/office/drawing/2014/main" id="{E67F04B7-3567-3F8D-542E-410037C2E6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3BA1E8-0707-FCBF-97C2-9F01D295B323}"/>
              </a:ext>
            </a:extLst>
          </p:cNvPr>
          <p:cNvSpPr>
            <a:spLocks noGrp="1"/>
          </p:cNvSpPr>
          <p:nvPr>
            <p:ph type="sldNum" sz="quarter" idx="12"/>
          </p:nvPr>
        </p:nvSpPr>
        <p:spPr/>
        <p:txBody>
          <a:bodyPr/>
          <a:lstStyle/>
          <a:p>
            <a:fld id="{2676B493-B359-4468-9CA2-6059FFC9A7CC}" type="slidenum">
              <a:rPr lang="en-US" smtClean="0"/>
              <a:t>‹#›</a:t>
            </a:fld>
            <a:endParaRPr lang="en-US"/>
          </a:p>
        </p:txBody>
      </p:sp>
    </p:spTree>
    <p:extLst>
      <p:ext uri="{BB962C8B-B14F-4D97-AF65-F5344CB8AC3E}">
        <p14:creationId xmlns:p14="http://schemas.microsoft.com/office/powerpoint/2010/main" val="3947632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93072-5FB1-FA6D-0BDC-6B940D714C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7FA69BB-C352-EAD0-3A5A-38C1A872E6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3A77AC-5AA7-0BEE-70A6-B029D9CCA2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67FDD9E-0A1C-B3CC-AC35-3922CD1E61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7DB34A-BB7B-25F3-9AF4-13EE0464C0B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AE80925-7C5B-C1B7-4231-4DC051F80311}"/>
              </a:ext>
            </a:extLst>
          </p:cNvPr>
          <p:cNvSpPr>
            <a:spLocks noGrp="1"/>
          </p:cNvSpPr>
          <p:nvPr>
            <p:ph type="dt" sz="half" idx="10"/>
          </p:nvPr>
        </p:nvSpPr>
        <p:spPr/>
        <p:txBody>
          <a:bodyPr/>
          <a:lstStyle/>
          <a:p>
            <a:fld id="{EB11718B-733F-446C-BAB5-2D76C3AD54E7}" type="datetimeFigureOut">
              <a:rPr lang="en-US" smtClean="0"/>
              <a:t>10/27/2026</a:t>
            </a:fld>
            <a:endParaRPr lang="en-US"/>
          </a:p>
        </p:txBody>
      </p:sp>
      <p:sp>
        <p:nvSpPr>
          <p:cNvPr id="8" name="Footer Placeholder 7">
            <a:extLst>
              <a:ext uri="{FF2B5EF4-FFF2-40B4-BE49-F238E27FC236}">
                <a16:creationId xmlns:a16="http://schemas.microsoft.com/office/drawing/2014/main" id="{CFD9E872-5B07-DFB6-8FC3-278F931C46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2081D27-C9E9-B8DC-E0E6-25E634B62260}"/>
              </a:ext>
            </a:extLst>
          </p:cNvPr>
          <p:cNvSpPr>
            <a:spLocks noGrp="1"/>
          </p:cNvSpPr>
          <p:nvPr>
            <p:ph type="sldNum" sz="quarter" idx="12"/>
          </p:nvPr>
        </p:nvSpPr>
        <p:spPr/>
        <p:txBody>
          <a:bodyPr/>
          <a:lstStyle/>
          <a:p>
            <a:fld id="{2676B493-B359-4468-9CA2-6059FFC9A7CC}" type="slidenum">
              <a:rPr lang="en-US" smtClean="0"/>
              <a:t>‹#›</a:t>
            </a:fld>
            <a:endParaRPr lang="en-US"/>
          </a:p>
        </p:txBody>
      </p:sp>
    </p:spTree>
    <p:extLst>
      <p:ext uri="{BB962C8B-B14F-4D97-AF65-F5344CB8AC3E}">
        <p14:creationId xmlns:p14="http://schemas.microsoft.com/office/powerpoint/2010/main" val="3065797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6DFB8-12FD-B9EC-4F78-996B0E0C35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657C4C6-D2E0-5B91-C2FD-07E35136D5BA}"/>
              </a:ext>
            </a:extLst>
          </p:cNvPr>
          <p:cNvSpPr>
            <a:spLocks noGrp="1"/>
          </p:cNvSpPr>
          <p:nvPr>
            <p:ph type="dt" sz="half" idx="10"/>
          </p:nvPr>
        </p:nvSpPr>
        <p:spPr/>
        <p:txBody>
          <a:bodyPr/>
          <a:lstStyle/>
          <a:p>
            <a:fld id="{EB11718B-733F-446C-BAB5-2D76C3AD54E7}" type="datetimeFigureOut">
              <a:rPr lang="en-US" smtClean="0"/>
              <a:t>10/27/2026</a:t>
            </a:fld>
            <a:endParaRPr lang="en-US"/>
          </a:p>
        </p:txBody>
      </p:sp>
      <p:sp>
        <p:nvSpPr>
          <p:cNvPr id="4" name="Footer Placeholder 3">
            <a:extLst>
              <a:ext uri="{FF2B5EF4-FFF2-40B4-BE49-F238E27FC236}">
                <a16:creationId xmlns:a16="http://schemas.microsoft.com/office/drawing/2014/main" id="{CF62D514-A932-DA4F-8B4B-3760CCF350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FA274B0-0E38-D36F-C722-E8584F63CB48}"/>
              </a:ext>
            </a:extLst>
          </p:cNvPr>
          <p:cNvSpPr>
            <a:spLocks noGrp="1"/>
          </p:cNvSpPr>
          <p:nvPr>
            <p:ph type="sldNum" sz="quarter" idx="12"/>
          </p:nvPr>
        </p:nvSpPr>
        <p:spPr/>
        <p:txBody>
          <a:bodyPr/>
          <a:lstStyle/>
          <a:p>
            <a:fld id="{2676B493-B359-4468-9CA2-6059FFC9A7CC}" type="slidenum">
              <a:rPr lang="en-US" smtClean="0"/>
              <a:t>‹#›</a:t>
            </a:fld>
            <a:endParaRPr lang="en-US"/>
          </a:p>
        </p:txBody>
      </p:sp>
    </p:spTree>
    <p:extLst>
      <p:ext uri="{BB962C8B-B14F-4D97-AF65-F5344CB8AC3E}">
        <p14:creationId xmlns:p14="http://schemas.microsoft.com/office/powerpoint/2010/main" val="2004819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A7AB88-0F14-7B4F-1588-0C9AD0367372}"/>
              </a:ext>
            </a:extLst>
          </p:cNvPr>
          <p:cNvSpPr>
            <a:spLocks noGrp="1"/>
          </p:cNvSpPr>
          <p:nvPr>
            <p:ph type="dt" sz="half" idx="10"/>
          </p:nvPr>
        </p:nvSpPr>
        <p:spPr/>
        <p:txBody>
          <a:bodyPr/>
          <a:lstStyle/>
          <a:p>
            <a:fld id="{EB11718B-733F-446C-BAB5-2D76C3AD54E7}" type="datetimeFigureOut">
              <a:rPr lang="en-US" smtClean="0"/>
              <a:t>10/27/2026</a:t>
            </a:fld>
            <a:endParaRPr lang="en-US"/>
          </a:p>
        </p:txBody>
      </p:sp>
      <p:sp>
        <p:nvSpPr>
          <p:cNvPr id="3" name="Footer Placeholder 2">
            <a:extLst>
              <a:ext uri="{FF2B5EF4-FFF2-40B4-BE49-F238E27FC236}">
                <a16:creationId xmlns:a16="http://schemas.microsoft.com/office/drawing/2014/main" id="{56717A6A-2FC6-0899-EB7E-1883CB68E55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4B156AD-B5CF-22DE-47FE-5267688569EE}"/>
              </a:ext>
            </a:extLst>
          </p:cNvPr>
          <p:cNvSpPr>
            <a:spLocks noGrp="1"/>
          </p:cNvSpPr>
          <p:nvPr>
            <p:ph type="sldNum" sz="quarter" idx="12"/>
          </p:nvPr>
        </p:nvSpPr>
        <p:spPr/>
        <p:txBody>
          <a:bodyPr/>
          <a:lstStyle/>
          <a:p>
            <a:fld id="{2676B493-B359-4468-9CA2-6059FFC9A7CC}" type="slidenum">
              <a:rPr lang="en-US" smtClean="0"/>
              <a:t>‹#›</a:t>
            </a:fld>
            <a:endParaRPr lang="en-US"/>
          </a:p>
        </p:txBody>
      </p:sp>
    </p:spTree>
    <p:extLst>
      <p:ext uri="{BB962C8B-B14F-4D97-AF65-F5344CB8AC3E}">
        <p14:creationId xmlns:p14="http://schemas.microsoft.com/office/powerpoint/2010/main" val="850988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C399A-BCF1-0989-0B43-95A596E7ED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BA39C8B-A785-FE5C-AF55-D5DD6BCD55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2D5AE5-8409-470C-FC2F-D5B4915F93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77213C-8DD9-EFAD-2B08-49C94915CD5E}"/>
              </a:ext>
            </a:extLst>
          </p:cNvPr>
          <p:cNvSpPr>
            <a:spLocks noGrp="1"/>
          </p:cNvSpPr>
          <p:nvPr>
            <p:ph type="dt" sz="half" idx="10"/>
          </p:nvPr>
        </p:nvSpPr>
        <p:spPr/>
        <p:txBody>
          <a:bodyPr/>
          <a:lstStyle/>
          <a:p>
            <a:fld id="{EB11718B-733F-446C-BAB5-2D76C3AD54E7}" type="datetimeFigureOut">
              <a:rPr lang="en-US" smtClean="0"/>
              <a:t>10/27/2026</a:t>
            </a:fld>
            <a:endParaRPr lang="en-US"/>
          </a:p>
        </p:txBody>
      </p:sp>
      <p:sp>
        <p:nvSpPr>
          <p:cNvPr id="6" name="Footer Placeholder 5">
            <a:extLst>
              <a:ext uri="{FF2B5EF4-FFF2-40B4-BE49-F238E27FC236}">
                <a16:creationId xmlns:a16="http://schemas.microsoft.com/office/drawing/2014/main" id="{202CAABE-FBE7-48B2-8B69-F1F2A63DC5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7BDBBB-A827-4511-01E3-D12046B9B6BE}"/>
              </a:ext>
            </a:extLst>
          </p:cNvPr>
          <p:cNvSpPr>
            <a:spLocks noGrp="1"/>
          </p:cNvSpPr>
          <p:nvPr>
            <p:ph type="sldNum" sz="quarter" idx="12"/>
          </p:nvPr>
        </p:nvSpPr>
        <p:spPr/>
        <p:txBody>
          <a:bodyPr/>
          <a:lstStyle/>
          <a:p>
            <a:fld id="{2676B493-B359-4468-9CA2-6059FFC9A7CC}" type="slidenum">
              <a:rPr lang="en-US" smtClean="0"/>
              <a:t>‹#›</a:t>
            </a:fld>
            <a:endParaRPr lang="en-US"/>
          </a:p>
        </p:txBody>
      </p:sp>
    </p:spTree>
    <p:extLst>
      <p:ext uri="{BB962C8B-B14F-4D97-AF65-F5344CB8AC3E}">
        <p14:creationId xmlns:p14="http://schemas.microsoft.com/office/powerpoint/2010/main" val="237410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128EC-6CB7-59B1-1513-B94F5AB82E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6E5305-F479-20B3-AB45-DDDD2909F898}"/>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9E3AB1B-A0F7-61DB-6FCD-82B310956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1F971B-BE4D-A79B-75A5-FAE871AD31B2}"/>
              </a:ext>
            </a:extLst>
          </p:cNvPr>
          <p:cNvSpPr>
            <a:spLocks noGrp="1"/>
          </p:cNvSpPr>
          <p:nvPr>
            <p:ph type="dt" sz="half" idx="10"/>
          </p:nvPr>
        </p:nvSpPr>
        <p:spPr/>
        <p:txBody>
          <a:bodyPr/>
          <a:lstStyle/>
          <a:p>
            <a:fld id="{EB11718B-733F-446C-BAB5-2D76C3AD54E7}" type="datetimeFigureOut">
              <a:rPr lang="en-US" smtClean="0"/>
              <a:t>10/27/2026</a:t>
            </a:fld>
            <a:endParaRPr lang="en-US"/>
          </a:p>
        </p:txBody>
      </p:sp>
      <p:sp>
        <p:nvSpPr>
          <p:cNvPr id="6" name="Footer Placeholder 5">
            <a:extLst>
              <a:ext uri="{FF2B5EF4-FFF2-40B4-BE49-F238E27FC236}">
                <a16:creationId xmlns:a16="http://schemas.microsoft.com/office/drawing/2014/main" id="{1103FF26-7739-D4A8-7F6E-E5D3186EE4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6D5D13-AE4B-31DF-5286-7F99CA54B3BC}"/>
              </a:ext>
            </a:extLst>
          </p:cNvPr>
          <p:cNvSpPr>
            <a:spLocks noGrp="1"/>
          </p:cNvSpPr>
          <p:nvPr>
            <p:ph type="sldNum" sz="quarter" idx="12"/>
          </p:nvPr>
        </p:nvSpPr>
        <p:spPr/>
        <p:txBody>
          <a:bodyPr/>
          <a:lstStyle/>
          <a:p>
            <a:fld id="{2676B493-B359-4468-9CA2-6059FFC9A7CC}" type="slidenum">
              <a:rPr lang="en-US" smtClean="0"/>
              <a:t>‹#›</a:t>
            </a:fld>
            <a:endParaRPr lang="en-US"/>
          </a:p>
        </p:txBody>
      </p:sp>
    </p:spTree>
    <p:extLst>
      <p:ext uri="{BB962C8B-B14F-4D97-AF65-F5344CB8AC3E}">
        <p14:creationId xmlns:p14="http://schemas.microsoft.com/office/powerpoint/2010/main" val="82722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5A4D0-4E78-6C36-36A2-1D03A00FC1F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F192B5B-1748-528F-5350-CCDC771851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5AA003-DDF4-BD09-A825-454DFEF70EAB}"/>
              </a:ext>
            </a:extLst>
          </p:cNvPr>
          <p:cNvSpPr>
            <a:spLocks noGrp="1"/>
          </p:cNvSpPr>
          <p:nvPr>
            <p:ph type="dt" sz="half" idx="10"/>
          </p:nvPr>
        </p:nvSpPr>
        <p:spPr/>
        <p:txBody>
          <a:bodyPr/>
          <a:lstStyle/>
          <a:p>
            <a:fld id="{EB11718B-733F-446C-BAB5-2D76C3AD54E7}" type="datetimeFigureOut">
              <a:rPr lang="en-US" smtClean="0"/>
              <a:t>10/27/2026</a:t>
            </a:fld>
            <a:endParaRPr lang="en-US"/>
          </a:p>
        </p:txBody>
      </p:sp>
      <p:sp>
        <p:nvSpPr>
          <p:cNvPr id="5" name="Footer Placeholder 4">
            <a:extLst>
              <a:ext uri="{FF2B5EF4-FFF2-40B4-BE49-F238E27FC236}">
                <a16:creationId xmlns:a16="http://schemas.microsoft.com/office/drawing/2014/main" id="{175B4672-3BEC-0BEA-CE00-B5083E17BA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7F3A94-D1D4-4D12-124D-29837B41C7BF}"/>
              </a:ext>
            </a:extLst>
          </p:cNvPr>
          <p:cNvSpPr>
            <a:spLocks noGrp="1"/>
          </p:cNvSpPr>
          <p:nvPr>
            <p:ph type="sldNum" sz="quarter" idx="12"/>
          </p:nvPr>
        </p:nvSpPr>
        <p:spPr/>
        <p:txBody>
          <a:bodyPr/>
          <a:lstStyle/>
          <a:p>
            <a:fld id="{2676B493-B359-4468-9CA2-6059FFC9A7CC}" type="slidenum">
              <a:rPr lang="en-US" smtClean="0"/>
              <a:t>‹#›</a:t>
            </a:fld>
            <a:endParaRPr lang="en-US"/>
          </a:p>
        </p:txBody>
      </p:sp>
    </p:spTree>
    <p:extLst>
      <p:ext uri="{BB962C8B-B14F-4D97-AF65-F5344CB8AC3E}">
        <p14:creationId xmlns:p14="http://schemas.microsoft.com/office/powerpoint/2010/main" val="31878984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3D8761-81B4-F61F-132D-6EF39E85EEB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6DC44A8-F356-B1E1-9E5F-882AC13BA1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A10382-0F78-0F84-3379-CED37196A685}"/>
              </a:ext>
            </a:extLst>
          </p:cNvPr>
          <p:cNvSpPr>
            <a:spLocks noGrp="1"/>
          </p:cNvSpPr>
          <p:nvPr>
            <p:ph type="dt" sz="half" idx="10"/>
          </p:nvPr>
        </p:nvSpPr>
        <p:spPr/>
        <p:txBody>
          <a:bodyPr/>
          <a:lstStyle/>
          <a:p>
            <a:fld id="{EB11718B-733F-446C-BAB5-2D76C3AD54E7}" type="datetimeFigureOut">
              <a:rPr lang="en-US" smtClean="0"/>
              <a:t>10/27/2026</a:t>
            </a:fld>
            <a:endParaRPr lang="en-US"/>
          </a:p>
        </p:txBody>
      </p:sp>
      <p:sp>
        <p:nvSpPr>
          <p:cNvPr id="5" name="Footer Placeholder 4">
            <a:extLst>
              <a:ext uri="{FF2B5EF4-FFF2-40B4-BE49-F238E27FC236}">
                <a16:creationId xmlns:a16="http://schemas.microsoft.com/office/drawing/2014/main" id="{40C61CC0-F161-7EFF-2493-7C7C5E0E32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460FE5-0C23-3745-24B3-64577A6DA3D9}"/>
              </a:ext>
            </a:extLst>
          </p:cNvPr>
          <p:cNvSpPr>
            <a:spLocks noGrp="1"/>
          </p:cNvSpPr>
          <p:nvPr>
            <p:ph type="sldNum" sz="quarter" idx="12"/>
          </p:nvPr>
        </p:nvSpPr>
        <p:spPr/>
        <p:txBody>
          <a:bodyPr/>
          <a:lstStyle/>
          <a:p>
            <a:fld id="{2676B493-B359-4468-9CA2-6059FFC9A7CC}" type="slidenum">
              <a:rPr lang="en-US" smtClean="0"/>
              <a:t>‹#›</a:t>
            </a:fld>
            <a:endParaRPr lang="en-US"/>
          </a:p>
        </p:txBody>
      </p:sp>
    </p:spTree>
    <p:extLst>
      <p:ext uri="{BB962C8B-B14F-4D97-AF65-F5344CB8AC3E}">
        <p14:creationId xmlns:p14="http://schemas.microsoft.com/office/powerpoint/2010/main" val="1626860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427076-D2D8-B2AC-C053-EB4376F613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72B01DC-1610-14C2-1120-C35487E352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60C2C4-866A-28C4-4F81-C6026B39E1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B11718B-733F-446C-BAB5-2D76C3AD54E7}" type="datetimeFigureOut">
              <a:rPr lang="en-US" smtClean="0"/>
              <a:t>10/27/2026</a:t>
            </a:fld>
            <a:endParaRPr lang="en-US"/>
          </a:p>
        </p:txBody>
      </p:sp>
      <p:sp>
        <p:nvSpPr>
          <p:cNvPr id="5" name="Footer Placeholder 4">
            <a:extLst>
              <a:ext uri="{FF2B5EF4-FFF2-40B4-BE49-F238E27FC236}">
                <a16:creationId xmlns:a16="http://schemas.microsoft.com/office/drawing/2014/main" id="{A45010DD-D8AD-419A-2099-6FEA90F085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A8B0396-B0FC-D5CB-A8AA-06FE1D4A9D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76B493-B359-4468-9CA2-6059FFC9A7CC}" type="slidenum">
              <a:rPr lang="en-US" smtClean="0"/>
              <a:t>‹#›</a:t>
            </a:fld>
            <a:endParaRPr lang="en-US"/>
          </a:p>
        </p:txBody>
      </p:sp>
    </p:spTree>
    <p:extLst>
      <p:ext uri="{BB962C8B-B14F-4D97-AF65-F5344CB8AC3E}">
        <p14:creationId xmlns:p14="http://schemas.microsoft.com/office/powerpoint/2010/main" val="441899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hyperlink" Target="https://adaptive-learning-network.github.io/jupyterlite-prototype/lab/index.html?path=notebooks/u00-n00-start-here.ipynb" TargetMode="Externa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hyperlink" Target="https://adaptive-learning-network.github.io/jupyterlite-prototype/lab/index.html?path=notebooks/u03-n06-case-or-aggregate.ipynb" TargetMode="Externa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adaptive-learning-network.github.io/jupyterlite-prototype/lab/index.html?path=notebooks/u00-n00-start-here.ipynb"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hyperlink" Target="https://adaptive-learning-network.github.io/jupyterlite-prototyp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3B4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AEC12C-0DFA-BD9B-E240-327909D30E8A}"/>
              </a:ext>
            </a:extLst>
          </p:cNvPr>
          <p:cNvSpPr txBox="1"/>
          <p:nvPr/>
        </p:nvSpPr>
        <p:spPr>
          <a:xfrm>
            <a:off x="609600" y="428624"/>
            <a:ext cx="10906125" cy="1428750"/>
          </a:xfrm>
          <a:prstGeom prst="rect">
            <a:avLst/>
          </a:prstGeom>
          <a:noFill/>
        </p:spPr>
        <p:txBody>
          <a:bodyPr vert="horz" wrap="square" lIns="0" tIns="0" rIns="0" bIns="0" rtlCol="0">
            <a:noAutofit/>
          </a:bodyPr>
          <a:lstStyle/>
          <a:p>
            <a:pPr>
              <a:spcAft>
                <a:spcPts val="525"/>
              </a:spcAft>
            </a:pPr>
            <a:r>
              <a:rPr lang="en-US" sz="4050" b="1">
                <a:solidFill>
                  <a:srgbClr val="FFFFFF"/>
                </a:solidFill>
                <a:latin typeface="Arial" panose="020B0604020202020204" pitchFamily="34" charset="0"/>
              </a:rPr>
              <a:t>Learning public health informatics</a:t>
            </a:r>
          </a:p>
          <a:p>
            <a:pPr>
              <a:spcAft>
                <a:spcPts val="525"/>
              </a:spcAft>
            </a:pPr>
            <a:r>
              <a:rPr lang="en-US" sz="4050" b="1">
                <a:solidFill>
                  <a:srgbClr val="FFFFFF"/>
                </a:solidFill>
                <a:latin typeface="Arial" panose="020B0604020202020204" pitchFamily="34" charset="0"/>
              </a:rPr>
              <a:t>with interactive notebooks</a:t>
            </a:r>
          </a:p>
        </p:txBody>
      </p:sp>
      <p:sp>
        <p:nvSpPr>
          <p:cNvPr id="3" name="TextBox 2">
            <a:extLst>
              <a:ext uri="{FF2B5EF4-FFF2-40B4-BE49-F238E27FC236}">
                <a16:creationId xmlns:a16="http://schemas.microsoft.com/office/drawing/2014/main" id="{1462371A-2A8C-184C-DD34-7AC951882469}"/>
              </a:ext>
            </a:extLst>
          </p:cNvPr>
          <p:cNvSpPr txBox="1"/>
          <p:nvPr/>
        </p:nvSpPr>
        <p:spPr>
          <a:xfrm>
            <a:off x="628650" y="2009774"/>
            <a:ext cx="9525000" cy="381000"/>
          </a:xfrm>
          <a:prstGeom prst="rect">
            <a:avLst/>
          </a:prstGeom>
          <a:noFill/>
        </p:spPr>
        <p:txBody>
          <a:bodyPr vert="horz" wrap="square" lIns="0" tIns="0" rIns="0" bIns="0" rtlCol="0">
            <a:noAutofit/>
          </a:bodyPr>
          <a:lstStyle/>
          <a:p>
            <a:pPr>
              <a:spcAft>
                <a:spcPts val="525"/>
              </a:spcAft>
            </a:pPr>
            <a:r>
              <a:rPr lang="en-US" sz="2175">
                <a:solidFill>
                  <a:srgbClr val="CDE7E4"/>
                </a:solidFill>
                <a:latin typeface="Arial" panose="020B0604020202020204" pitchFamily="34" charset="0"/>
              </a:rPr>
              <a:t>Field demonstration</a:t>
            </a:r>
          </a:p>
        </p:txBody>
      </p:sp>
      <p:pic>
        <p:nvPicPr>
          <p:cNvPr id="5" name="Picture 4" descr="Laila reviews records, inspects a chart, and discusses findings with a colleague at a professional distance.">
            <a:extLst>
              <a:ext uri="{FF2B5EF4-FFF2-40B4-BE49-F238E27FC236}">
                <a16:creationId xmlns:a16="http://schemas.microsoft.com/office/drawing/2014/main" id="{873A2675-2B65-EA36-DBEC-921BA117690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922924" y="2714625"/>
            <a:ext cx="8346153" cy="3352800"/>
          </a:xfrm>
          <a:prstGeom prst="rect">
            <a:avLst/>
          </a:prstGeom>
        </p:spPr>
      </p:pic>
      <p:sp>
        <p:nvSpPr>
          <p:cNvPr id="6" name="TextBox 5">
            <a:extLst>
              <a:ext uri="{FF2B5EF4-FFF2-40B4-BE49-F238E27FC236}">
                <a16:creationId xmlns:a16="http://schemas.microsoft.com/office/drawing/2014/main" id="{87A661E9-3330-E574-4428-D2AD05D5CE3E}"/>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B7CDCD"/>
                </a:solidFill>
                <a:latin typeface="Arial" panose="020B0604020202020204" pitchFamily="34" charset="0"/>
              </a:rPr>
              <a:t>1</a:t>
            </a:r>
          </a:p>
        </p:txBody>
      </p:sp>
    </p:spTree>
    <p:extLst>
      <p:ext uri="{BB962C8B-B14F-4D97-AF65-F5344CB8AC3E}">
        <p14:creationId xmlns:p14="http://schemas.microsoft.com/office/powerpoint/2010/main" val="3370213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D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5E6E58-2D38-3B5D-E831-98670D5E6E64}"/>
              </a:ext>
            </a:extLst>
          </p:cNvPr>
          <p:cNvSpPr txBox="1"/>
          <p:nvPr/>
        </p:nvSpPr>
        <p:spPr>
          <a:xfrm>
            <a:off x="609600" y="1524000"/>
            <a:ext cx="10953750" cy="466725"/>
          </a:xfrm>
          <a:prstGeom prst="rect">
            <a:avLst/>
          </a:prstGeom>
          <a:noFill/>
        </p:spPr>
        <p:txBody>
          <a:bodyPr vert="horz" wrap="square" lIns="0" tIns="0" rIns="0" bIns="0" rtlCol="0">
            <a:noAutofit/>
          </a:bodyPr>
          <a:lstStyle/>
          <a:p>
            <a:pPr>
              <a:spcAft>
                <a:spcPts val="525"/>
              </a:spcAft>
            </a:pPr>
            <a:r>
              <a:rPr lang="en-US" sz="2100">
                <a:solidFill>
                  <a:srgbClr val="173B49"/>
                </a:solidFill>
                <a:latin typeface="Arial" panose="020B0604020202020204" pitchFamily="34" charset="0"/>
              </a:rPr>
              <a:t>Invented scenario: suspected measles cases reported by district</a:t>
            </a:r>
          </a:p>
        </p:txBody>
      </p:sp>
      <p:sp>
        <p:nvSpPr>
          <p:cNvPr id="3" name="TextBox 2">
            <a:extLst>
              <a:ext uri="{FF2B5EF4-FFF2-40B4-BE49-F238E27FC236}">
                <a16:creationId xmlns:a16="http://schemas.microsoft.com/office/drawing/2014/main" id="{6795ADCB-36A5-1A74-A06F-36CB80B4BA6E}"/>
              </a:ext>
            </a:extLst>
          </p:cNvPr>
          <p:cNvSpPr txBox="1"/>
          <p:nvPr/>
        </p:nvSpPr>
        <p:spPr>
          <a:xfrm>
            <a:off x="609600" y="2038350"/>
            <a:ext cx="10953750" cy="428625"/>
          </a:xfrm>
          <a:prstGeom prst="rect">
            <a:avLst/>
          </a:prstGeom>
          <a:noFill/>
        </p:spPr>
        <p:txBody>
          <a:bodyPr vert="horz" wrap="square" lIns="0" tIns="0" rIns="0" bIns="0" rtlCol="0">
            <a:noAutofit/>
          </a:bodyPr>
          <a:lstStyle/>
          <a:p>
            <a:pPr>
              <a:spcAft>
                <a:spcPts val="525"/>
              </a:spcAft>
            </a:pPr>
            <a:r>
              <a:rPr lang="en-US" sz="2025">
                <a:solidFill>
                  <a:srgbClr val="173B49"/>
                </a:solidFill>
                <a:latin typeface="Arial" panose="020B0604020202020204" pitchFamily="34" charset="0"/>
              </a:rPr>
              <a:t>Each count covers one week. Weeks 1 and 2 are consecutive.</a:t>
            </a:r>
          </a:p>
        </p:txBody>
      </p:sp>
      <p:sp>
        <p:nvSpPr>
          <p:cNvPr id="4" name="TextBox 3">
            <a:extLst>
              <a:ext uri="{FF2B5EF4-FFF2-40B4-BE49-F238E27FC236}">
                <a16:creationId xmlns:a16="http://schemas.microsoft.com/office/drawing/2014/main" id="{5BBC42C8-7CFD-503A-66F9-5708B80C89BB}"/>
              </a:ext>
            </a:extLst>
          </p:cNvPr>
          <p:cNvSpPr txBox="1"/>
          <p:nvPr/>
        </p:nvSpPr>
        <p:spPr>
          <a:xfrm>
            <a:off x="609600" y="2609850"/>
            <a:ext cx="10953750" cy="523875"/>
          </a:xfrm>
          <a:prstGeom prst="rect">
            <a:avLst/>
          </a:prstGeom>
          <a:noFill/>
        </p:spPr>
        <p:txBody>
          <a:bodyPr vert="horz" wrap="square" lIns="0" tIns="0" rIns="0" bIns="0" rtlCol="0">
            <a:noAutofit/>
          </a:bodyPr>
          <a:lstStyle/>
          <a:p>
            <a:pPr>
              <a:spcAft>
                <a:spcPts val="525"/>
              </a:spcAft>
            </a:pPr>
            <a:r>
              <a:rPr lang="en-US" sz="2400" b="1">
                <a:solidFill>
                  <a:srgbClr val="007F83"/>
                </a:solidFill>
                <a:latin typeface="Arial" panose="020B0604020202020204" pitchFamily="34" charset="0"/>
              </a:rPr>
              <a:t>Which district has the largest increase in reported cases?</a:t>
            </a:r>
          </a:p>
        </p:txBody>
      </p:sp>
      <p:graphicFrame>
        <p:nvGraphicFramePr>
          <p:cNvPr id="5" name="Table 4">
            <a:extLst>
              <a:ext uri="{FF2B5EF4-FFF2-40B4-BE49-F238E27FC236}">
                <a16:creationId xmlns:a16="http://schemas.microsoft.com/office/drawing/2014/main" id="{3E852B22-A768-075A-D092-1969C3871AE6}"/>
              </a:ext>
            </a:extLst>
          </p:cNvPr>
          <p:cNvGraphicFramePr>
            <a:graphicFrameLocks noGrp="1"/>
          </p:cNvGraphicFramePr>
          <p:nvPr>
            <p:extLst>
              <p:ext uri="{D42A27DB-BD31-4B8C-83A1-F6EECF244321}">
                <p14:modId xmlns:p14="http://schemas.microsoft.com/office/powerpoint/2010/main" val="116203613"/>
              </p:ext>
            </p:extLst>
          </p:nvPr>
        </p:nvGraphicFramePr>
        <p:xfrm>
          <a:off x="609600" y="3314700"/>
          <a:ext cx="10953750" cy="2057400"/>
        </p:xfrm>
        <a:graphic>
          <a:graphicData uri="http://schemas.openxmlformats.org/drawingml/2006/table">
            <a:tbl>
              <a:tblPr firstRow="1" bandRow="1">
                <a:tableStyleId>{5C22544A-7EE6-4342-B048-85BDC9FD1C3A}</a:tableStyleId>
              </a:tblPr>
              <a:tblGrid>
                <a:gridCol w="3714750">
                  <a:extLst>
                    <a:ext uri="{9D8B030D-6E8A-4147-A177-3AD203B41FA5}">
                      <a16:colId xmlns:a16="http://schemas.microsoft.com/office/drawing/2014/main" val="3165998073"/>
                    </a:ext>
                  </a:extLst>
                </a:gridCol>
                <a:gridCol w="3429000">
                  <a:extLst>
                    <a:ext uri="{9D8B030D-6E8A-4147-A177-3AD203B41FA5}">
                      <a16:colId xmlns:a16="http://schemas.microsoft.com/office/drawing/2014/main" val="3588151972"/>
                    </a:ext>
                  </a:extLst>
                </a:gridCol>
                <a:gridCol w="3810000">
                  <a:extLst>
                    <a:ext uri="{9D8B030D-6E8A-4147-A177-3AD203B41FA5}">
                      <a16:colId xmlns:a16="http://schemas.microsoft.com/office/drawing/2014/main" val="2999070393"/>
                    </a:ext>
                  </a:extLst>
                </a:gridCol>
              </a:tblGrid>
              <a:tr h="514350">
                <a:tc>
                  <a:txBody>
                    <a:bodyPr/>
                    <a:lstStyle/>
                    <a:p>
                      <a:r>
                        <a:rPr lang="en-US" sz="2175" b="1">
                          <a:solidFill>
                            <a:srgbClr val="FFFFFF"/>
                          </a:solidFill>
                          <a:latin typeface="Arial" panose="020B0604020202020204" pitchFamily="34" charset="0"/>
                        </a:rPr>
                        <a:t>District</a:t>
                      </a:r>
                    </a:p>
                  </a:txBody>
                  <a:tcPr marL="114300" marR="114300" marT="63500" marB="63500" anchor="ctr">
                    <a:solidFill>
                      <a:srgbClr val="007F83"/>
                    </a:solidFill>
                  </a:tcPr>
                </a:tc>
                <a:tc>
                  <a:txBody>
                    <a:bodyPr/>
                    <a:lstStyle/>
                    <a:p>
                      <a:r>
                        <a:rPr lang="en-US" sz="2175" b="1">
                          <a:solidFill>
                            <a:srgbClr val="FFFFFF"/>
                          </a:solidFill>
                          <a:latin typeface="Arial" panose="020B0604020202020204" pitchFamily="34" charset="0"/>
                        </a:rPr>
                        <a:t>Week 1: cases</a:t>
                      </a:r>
                    </a:p>
                  </a:txBody>
                  <a:tcPr marL="114300" marR="114300" marT="63500" marB="63500" anchor="ctr">
                    <a:solidFill>
                      <a:srgbClr val="007F83"/>
                    </a:solidFill>
                  </a:tcPr>
                </a:tc>
                <a:tc>
                  <a:txBody>
                    <a:bodyPr/>
                    <a:lstStyle/>
                    <a:p>
                      <a:r>
                        <a:rPr lang="en-US" sz="2175" b="1">
                          <a:solidFill>
                            <a:srgbClr val="FFFFFF"/>
                          </a:solidFill>
                          <a:latin typeface="Arial" panose="020B0604020202020204" pitchFamily="34" charset="0"/>
                        </a:rPr>
                        <a:t>Week 2: cases</a:t>
                      </a:r>
                    </a:p>
                  </a:txBody>
                  <a:tcPr marL="114300" marR="114300" marT="63500" marB="63500" anchor="ctr">
                    <a:solidFill>
                      <a:srgbClr val="007F83"/>
                    </a:solidFill>
                  </a:tcPr>
                </a:tc>
                <a:extLst>
                  <a:ext uri="{0D108BD9-81ED-4DB2-BD59-A6C34878D82A}">
                    <a16:rowId xmlns:a16="http://schemas.microsoft.com/office/drawing/2014/main" val="4034917680"/>
                  </a:ext>
                </a:extLst>
              </a:tr>
              <a:tr h="514350">
                <a:tc>
                  <a:txBody>
                    <a:bodyPr/>
                    <a:lstStyle/>
                    <a:p>
                      <a:r>
                        <a:rPr lang="en-US" sz="2175" b="0">
                          <a:solidFill>
                            <a:srgbClr val="173B49"/>
                          </a:solidFill>
                          <a:latin typeface="Arial" panose="020B0604020202020204" pitchFamily="34" charset="0"/>
                        </a:rPr>
                        <a:t>Kambia</a:t>
                      </a:r>
                    </a:p>
                  </a:txBody>
                  <a:tcPr marL="114300" marR="114300" marT="63500" marB="63500" anchor="ctr">
                    <a:solidFill>
                      <a:srgbClr val="F0F6F5"/>
                    </a:solidFill>
                  </a:tcPr>
                </a:tc>
                <a:tc>
                  <a:txBody>
                    <a:bodyPr/>
                    <a:lstStyle/>
                    <a:p>
                      <a:r>
                        <a:rPr lang="en-US" sz="2175" b="0">
                          <a:solidFill>
                            <a:srgbClr val="173B49"/>
                          </a:solidFill>
                          <a:latin typeface="Arial" panose="020B0604020202020204" pitchFamily="34" charset="0"/>
                        </a:rPr>
                        <a:t>2</a:t>
                      </a:r>
                    </a:p>
                  </a:txBody>
                  <a:tcPr marL="114300" marR="114300" marT="63500" marB="63500" anchor="ctr">
                    <a:solidFill>
                      <a:srgbClr val="F0F6F5"/>
                    </a:solidFill>
                  </a:tcPr>
                </a:tc>
                <a:tc>
                  <a:txBody>
                    <a:bodyPr/>
                    <a:lstStyle/>
                    <a:p>
                      <a:r>
                        <a:rPr lang="en-US" sz="2175" b="0">
                          <a:solidFill>
                            <a:srgbClr val="173B49"/>
                          </a:solidFill>
                          <a:latin typeface="Arial" panose="020B0604020202020204" pitchFamily="34" charset="0"/>
                        </a:rPr>
                        <a:t>7</a:t>
                      </a:r>
                    </a:p>
                  </a:txBody>
                  <a:tcPr marL="114300" marR="114300" marT="63500" marB="63500" anchor="ctr">
                    <a:solidFill>
                      <a:srgbClr val="F0F6F5"/>
                    </a:solidFill>
                  </a:tcPr>
                </a:tc>
                <a:extLst>
                  <a:ext uri="{0D108BD9-81ED-4DB2-BD59-A6C34878D82A}">
                    <a16:rowId xmlns:a16="http://schemas.microsoft.com/office/drawing/2014/main" val="2947115979"/>
                  </a:ext>
                </a:extLst>
              </a:tr>
              <a:tr h="514350">
                <a:tc>
                  <a:txBody>
                    <a:bodyPr/>
                    <a:lstStyle/>
                    <a:p>
                      <a:r>
                        <a:rPr lang="en-US" sz="2175" b="0">
                          <a:solidFill>
                            <a:srgbClr val="173B49"/>
                          </a:solidFill>
                          <a:latin typeface="Arial" panose="020B0604020202020204" pitchFamily="34" charset="0"/>
                        </a:rPr>
                        <a:t>Port Loko</a:t>
                      </a:r>
                    </a:p>
                  </a:txBody>
                  <a:tcPr marL="114300" marR="114300" marT="63500" marB="63500" anchor="ctr">
                    <a:solidFill>
                      <a:srgbClr val="FFFFFF"/>
                    </a:solidFill>
                  </a:tcPr>
                </a:tc>
                <a:tc>
                  <a:txBody>
                    <a:bodyPr/>
                    <a:lstStyle/>
                    <a:p>
                      <a:r>
                        <a:rPr lang="en-US" sz="2175" b="0">
                          <a:solidFill>
                            <a:srgbClr val="173B49"/>
                          </a:solidFill>
                          <a:latin typeface="Arial" panose="020B0604020202020204" pitchFamily="34" charset="0"/>
                        </a:rPr>
                        <a:t>3</a:t>
                      </a:r>
                    </a:p>
                  </a:txBody>
                  <a:tcPr marL="114300" marR="114300" marT="63500" marB="63500" anchor="ctr">
                    <a:solidFill>
                      <a:srgbClr val="FFFFFF"/>
                    </a:solidFill>
                  </a:tcPr>
                </a:tc>
                <a:tc>
                  <a:txBody>
                    <a:bodyPr/>
                    <a:lstStyle/>
                    <a:p>
                      <a:r>
                        <a:rPr lang="en-US" sz="2175" b="0">
                          <a:solidFill>
                            <a:srgbClr val="173B49"/>
                          </a:solidFill>
                          <a:latin typeface="Arial" panose="020B0604020202020204" pitchFamily="34" charset="0"/>
                        </a:rPr>
                        <a:t>4</a:t>
                      </a:r>
                    </a:p>
                  </a:txBody>
                  <a:tcPr marL="114300" marR="114300" marT="63500" marB="63500" anchor="ctr">
                    <a:solidFill>
                      <a:srgbClr val="FFFFFF"/>
                    </a:solidFill>
                  </a:tcPr>
                </a:tc>
                <a:extLst>
                  <a:ext uri="{0D108BD9-81ED-4DB2-BD59-A6C34878D82A}">
                    <a16:rowId xmlns:a16="http://schemas.microsoft.com/office/drawing/2014/main" val="704676756"/>
                  </a:ext>
                </a:extLst>
              </a:tr>
              <a:tr h="514350">
                <a:tc>
                  <a:txBody>
                    <a:bodyPr/>
                    <a:lstStyle/>
                    <a:p>
                      <a:r>
                        <a:rPr lang="en-US" sz="2175" b="0">
                          <a:solidFill>
                            <a:srgbClr val="173B49"/>
                          </a:solidFill>
                          <a:latin typeface="Arial" panose="020B0604020202020204" pitchFamily="34" charset="0"/>
                        </a:rPr>
                        <a:t>Bombali</a:t>
                      </a:r>
                    </a:p>
                  </a:txBody>
                  <a:tcPr marL="114300" marR="114300" marT="63500" marB="63500" anchor="ctr">
                    <a:solidFill>
                      <a:srgbClr val="F0F6F5"/>
                    </a:solidFill>
                  </a:tcPr>
                </a:tc>
                <a:tc>
                  <a:txBody>
                    <a:bodyPr/>
                    <a:lstStyle/>
                    <a:p>
                      <a:r>
                        <a:rPr lang="en-US" sz="2175" b="0">
                          <a:solidFill>
                            <a:srgbClr val="173B49"/>
                          </a:solidFill>
                          <a:latin typeface="Arial" panose="020B0604020202020204" pitchFamily="34" charset="0"/>
                        </a:rPr>
                        <a:t>4</a:t>
                      </a:r>
                    </a:p>
                  </a:txBody>
                  <a:tcPr marL="114300" marR="114300" marT="63500" marB="63500" anchor="ctr">
                    <a:solidFill>
                      <a:srgbClr val="F0F6F5"/>
                    </a:solidFill>
                  </a:tcPr>
                </a:tc>
                <a:tc>
                  <a:txBody>
                    <a:bodyPr/>
                    <a:lstStyle/>
                    <a:p>
                      <a:r>
                        <a:rPr lang="en-US" sz="2175" b="0">
                          <a:solidFill>
                            <a:srgbClr val="173B49"/>
                          </a:solidFill>
                          <a:latin typeface="Arial" panose="020B0604020202020204" pitchFamily="34" charset="0"/>
                        </a:rPr>
                        <a:t>3</a:t>
                      </a:r>
                    </a:p>
                  </a:txBody>
                  <a:tcPr marL="114300" marR="114300" marT="63500" marB="63500" anchor="ctr">
                    <a:solidFill>
                      <a:srgbClr val="F0F6F5"/>
                    </a:solidFill>
                  </a:tcPr>
                </a:tc>
                <a:extLst>
                  <a:ext uri="{0D108BD9-81ED-4DB2-BD59-A6C34878D82A}">
                    <a16:rowId xmlns:a16="http://schemas.microsoft.com/office/drawing/2014/main" val="1068134247"/>
                  </a:ext>
                </a:extLst>
              </a:tr>
            </a:tbl>
          </a:graphicData>
        </a:graphic>
      </p:graphicFrame>
      <p:sp>
        <p:nvSpPr>
          <p:cNvPr id="6" name="TextBox 5">
            <a:extLst>
              <a:ext uri="{FF2B5EF4-FFF2-40B4-BE49-F238E27FC236}">
                <a16:creationId xmlns:a16="http://schemas.microsoft.com/office/drawing/2014/main" id="{6D8642F1-32D6-0BA0-999D-E6D4784FB9DD}"/>
              </a:ext>
            </a:extLst>
          </p:cNvPr>
          <p:cNvSpPr txBox="1"/>
          <p:nvPr/>
        </p:nvSpPr>
        <p:spPr>
          <a:xfrm>
            <a:off x="609600" y="5619749"/>
            <a:ext cx="10906125" cy="571500"/>
          </a:xfrm>
          <a:prstGeom prst="rect">
            <a:avLst/>
          </a:prstGeom>
          <a:noFill/>
        </p:spPr>
        <p:txBody>
          <a:bodyPr vert="horz" wrap="square" lIns="0" tIns="0" rIns="0" bIns="0" rtlCol="0">
            <a:noAutofit/>
          </a:bodyPr>
          <a:lstStyle/>
          <a:p>
            <a:pPr>
              <a:spcAft>
                <a:spcPts val="525"/>
              </a:spcAft>
            </a:pPr>
            <a:r>
              <a:rPr lang="en-US" sz="2175">
                <a:solidFill>
                  <a:srgbClr val="173B49"/>
                </a:solidFill>
                <a:latin typeface="Arial" panose="020B0604020202020204" pitchFamily="34" charset="0"/>
              </a:rPr>
              <a:t>What would you verify before interpreting that increase?</a:t>
            </a:r>
          </a:p>
        </p:txBody>
      </p:sp>
      <p:sp>
        <p:nvSpPr>
          <p:cNvPr id="7" name="TextBox 6">
            <a:extLst>
              <a:ext uri="{FF2B5EF4-FFF2-40B4-BE49-F238E27FC236}">
                <a16:creationId xmlns:a16="http://schemas.microsoft.com/office/drawing/2014/main" id="{80352417-DD8F-B585-B6AC-0B0359DEDA9D}"/>
              </a:ext>
            </a:extLst>
          </p:cNvPr>
          <p:cNvSpPr txBox="1"/>
          <p:nvPr/>
        </p:nvSpPr>
        <p:spPr>
          <a:xfrm>
            <a:off x="609600" y="6238874"/>
            <a:ext cx="10477500" cy="285750"/>
          </a:xfrm>
          <a:prstGeom prst="rect">
            <a:avLst/>
          </a:prstGeom>
          <a:noFill/>
        </p:spPr>
        <p:txBody>
          <a:bodyPr vert="horz" wrap="square" lIns="0" tIns="0" rIns="0" bIns="0" rtlCol="0">
            <a:noAutofit/>
          </a:bodyPr>
          <a:lstStyle/>
          <a:p>
            <a:pPr>
              <a:spcAft>
                <a:spcPts val="525"/>
              </a:spcAft>
            </a:pPr>
            <a:r>
              <a:rPr lang="en-US" sz="1500">
                <a:solidFill>
                  <a:srgbClr val="52656E"/>
                </a:solidFill>
                <a:latin typeface="Arial" panose="020B0604020202020204" pitchFamily="34" charset="0"/>
              </a:rPr>
              <a:t>Invented training data for comparing weekly counts</a:t>
            </a:r>
          </a:p>
        </p:txBody>
      </p:sp>
      <p:sp>
        <p:nvSpPr>
          <p:cNvPr id="8" name="TextBox 7">
            <a:extLst>
              <a:ext uri="{FF2B5EF4-FFF2-40B4-BE49-F238E27FC236}">
                <a16:creationId xmlns:a16="http://schemas.microsoft.com/office/drawing/2014/main" id="{3A54989C-25D9-9917-2978-9065BDF1700F}"/>
              </a:ext>
            </a:extLst>
          </p:cNvPr>
          <p:cNvSpPr txBox="1"/>
          <p:nvPr/>
        </p:nvSpPr>
        <p:spPr>
          <a:xfrm>
            <a:off x="609600" y="400050"/>
            <a:ext cx="10972800" cy="714375"/>
          </a:xfrm>
          <a:prstGeom prst="rect">
            <a:avLst/>
          </a:prstGeom>
          <a:noFill/>
        </p:spPr>
        <p:txBody>
          <a:bodyPr vert="horz" wrap="square" lIns="0" tIns="0" rIns="0" bIns="0" rtlCol="0">
            <a:noAutofit/>
          </a:bodyPr>
          <a:lstStyle/>
          <a:p>
            <a:pPr>
              <a:spcAft>
                <a:spcPts val="525"/>
              </a:spcAft>
            </a:pPr>
            <a:r>
              <a:rPr lang="en-US" sz="3300" b="1">
                <a:solidFill>
                  <a:srgbClr val="173B49"/>
                </a:solidFill>
                <a:latin typeface="Arial" panose="020B0604020202020204" pitchFamily="34" charset="0"/>
              </a:rPr>
              <a:t>Laila's weekly surveillance summary</a:t>
            </a:r>
          </a:p>
        </p:txBody>
      </p:sp>
      <p:sp>
        <p:nvSpPr>
          <p:cNvPr id="9" name="Rectangle 8">
            <a:extLst>
              <a:ext uri="{FF2B5EF4-FFF2-40B4-BE49-F238E27FC236}">
                <a16:creationId xmlns:a16="http://schemas.microsoft.com/office/drawing/2014/main" id="{44942EB3-B29E-F66A-42FA-12005C1160EE}"/>
              </a:ext>
            </a:extLst>
          </p:cNvPr>
          <p:cNvSpPr/>
          <p:nvPr/>
        </p:nvSpPr>
        <p:spPr>
          <a:xfrm>
            <a:off x="609600" y="1200150"/>
            <a:ext cx="666750" cy="38100"/>
          </a:xfrm>
          <a:prstGeom prst="rect">
            <a:avLst/>
          </a:prstGeom>
          <a:solidFill>
            <a:srgbClr val="D89E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4AC63A9-C0CB-C73C-FE05-0B18C0497411}"/>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52656E"/>
                </a:solidFill>
                <a:latin typeface="Arial" panose="020B0604020202020204" pitchFamily="34" charset="0"/>
              </a:rPr>
              <a:t>2</a:t>
            </a:r>
          </a:p>
        </p:txBody>
      </p:sp>
    </p:spTree>
    <p:extLst>
      <p:ext uri="{BB962C8B-B14F-4D97-AF65-F5344CB8AC3E}">
        <p14:creationId xmlns:p14="http://schemas.microsoft.com/office/powerpoint/2010/main" val="1365732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D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64F7C5-39B6-6F72-86DB-4E97F7F9798E}"/>
              </a:ext>
            </a:extLst>
          </p:cNvPr>
          <p:cNvSpPr txBox="1"/>
          <p:nvPr/>
        </p:nvSpPr>
        <p:spPr>
          <a:xfrm>
            <a:off x="609600" y="1523999"/>
            <a:ext cx="10953750" cy="495300"/>
          </a:xfrm>
          <a:prstGeom prst="rect">
            <a:avLst/>
          </a:prstGeom>
          <a:noFill/>
        </p:spPr>
        <p:txBody>
          <a:bodyPr vert="horz" wrap="square" lIns="0" tIns="0" rIns="0" bIns="0" rtlCol="0">
            <a:noAutofit/>
          </a:bodyPr>
          <a:lstStyle/>
          <a:p>
            <a:pPr>
              <a:spcAft>
                <a:spcPts val="525"/>
              </a:spcAft>
            </a:pPr>
            <a:r>
              <a:rPr lang="en-US" sz="2400">
                <a:solidFill>
                  <a:srgbClr val="173B49"/>
                </a:solidFill>
                <a:latin typeface="Arial" panose="020B0604020202020204" pitchFamily="34" charset="0"/>
              </a:rPr>
              <a:t>A computing workspace that runs in your browser</a:t>
            </a:r>
          </a:p>
        </p:txBody>
      </p:sp>
      <p:sp>
        <p:nvSpPr>
          <p:cNvPr id="3" name="TextBox 2">
            <a:extLst>
              <a:ext uri="{FF2B5EF4-FFF2-40B4-BE49-F238E27FC236}">
                <a16:creationId xmlns:a16="http://schemas.microsoft.com/office/drawing/2014/main" id="{88CB621C-6752-38C4-9ADD-1CB4918FC675}"/>
              </a:ext>
            </a:extLst>
          </p:cNvPr>
          <p:cNvSpPr txBox="1"/>
          <p:nvPr/>
        </p:nvSpPr>
        <p:spPr>
          <a:xfrm>
            <a:off x="609600" y="2305050"/>
            <a:ext cx="5143500" cy="447675"/>
          </a:xfrm>
          <a:prstGeom prst="rect">
            <a:avLst/>
          </a:prstGeom>
          <a:noFill/>
        </p:spPr>
        <p:txBody>
          <a:bodyPr vert="horz" wrap="square" lIns="0" tIns="0" rIns="0" bIns="0" rtlCol="0">
            <a:noAutofit/>
          </a:bodyPr>
          <a:lstStyle/>
          <a:p>
            <a:pPr>
              <a:spcAft>
                <a:spcPts val="525"/>
              </a:spcAft>
            </a:pPr>
            <a:r>
              <a:rPr lang="en-US" sz="2250" b="1">
                <a:solidFill>
                  <a:srgbClr val="007F83"/>
                </a:solidFill>
                <a:latin typeface="Arial" panose="020B0604020202020204" pitchFamily="34" charset="0"/>
              </a:rPr>
              <a:t>1  Open Notebook 00</a:t>
            </a:r>
          </a:p>
        </p:txBody>
      </p:sp>
      <p:sp>
        <p:nvSpPr>
          <p:cNvPr id="4" name="TextBox 3">
            <a:extLst>
              <a:ext uri="{FF2B5EF4-FFF2-40B4-BE49-F238E27FC236}">
                <a16:creationId xmlns:a16="http://schemas.microsoft.com/office/drawing/2014/main" id="{EB789F29-8B1B-A36A-07F1-BC46335604EE}"/>
              </a:ext>
            </a:extLst>
          </p:cNvPr>
          <p:cNvSpPr txBox="1"/>
          <p:nvPr/>
        </p:nvSpPr>
        <p:spPr>
          <a:xfrm>
            <a:off x="6343650" y="2305050"/>
            <a:ext cx="5219700" cy="447675"/>
          </a:xfrm>
          <a:prstGeom prst="rect">
            <a:avLst/>
          </a:prstGeom>
          <a:noFill/>
        </p:spPr>
        <p:txBody>
          <a:bodyPr vert="horz" wrap="square" lIns="0" tIns="0" rIns="0" bIns="0" rtlCol="0">
            <a:noAutofit/>
          </a:bodyPr>
          <a:lstStyle/>
          <a:p>
            <a:pPr>
              <a:spcAft>
                <a:spcPts val="525"/>
              </a:spcAft>
            </a:pPr>
            <a:r>
              <a:rPr lang="en-US" sz="2250" b="1">
                <a:solidFill>
                  <a:srgbClr val="007F83"/>
                </a:solidFill>
                <a:latin typeface="Arial" panose="020B0604020202020204" pitchFamily="34" charset="0"/>
              </a:rPr>
              <a:t>2  Choose an activity link</a:t>
            </a:r>
          </a:p>
        </p:txBody>
      </p:sp>
      <p:pic>
        <p:nvPicPr>
          <p:cNvPr id="6" name="Picture 5" descr="The file browser highlights u00-n00-start-here.ipynb. Double-click this notebook to open it.">
            <a:extLst>
              <a:ext uri="{FF2B5EF4-FFF2-40B4-BE49-F238E27FC236}">
                <a16:creationId xmlns:a16="http://schemas.microsoft.com/office/drawing/2014/main" id="{84357505-E9B0-977B-45B2-F6A135286E3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28443" y="2905125"/>
            <a:ext cx="3905814" cy="2667000"/>
          </a:xfrm>
          <a:prstGeom prst="rect">
            <a:avLst/>
          </a:prstGeom>
        </p:spPr>
      </p:pic>
      <p:pic>
        <p:nvPicPr>
          <p:cNvPr id="8" name="Picture 7" descr="Course contents links in Notebook 00 open each activity.">
            <a:extLst>
              <a:ext uri="{FF2B5EF4-FFF2-40B4-BE49-F238E27FC236}">
                <a16:creationId xmlns:a16="http://schemas.microsoft.com/office/drawing/2014/main" id="{D28FCFF7-7F51-C2D6-239D-2E084AB8834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488995" y="2905125"/>
            <a:ext cx="4929011" cy="2667000"/>
          </a:xfrm>
          <a:prstGeom prst="rect">
            <a:avLst/>
          </a:prstGeom>
        </p:spPr>
      </p:pic>
      <p:sp>
        <p:nvSpPr>
          <p:cNvPr id="9" name="TextBox 8">
            <a:extLst>
              <a:ext uri="{FF2B5EF4-FFF2-40B4-BE49-F238E27FC236}">
                <a16:creationId xmlns:a16="http://schemas.microsoft.com/office/drawing/2014/main" id="{E731F7C1-776E-654A-20EB-77E371D47839}"/>
              </a:ext>
            </a:extLst>
          </p:cNvPr>
          <p:cNvSpPr txBox="1"/>
          <p:nvPr/>
        </p:nvSpPr>
        <p:spPr>
          <a:xfrm>
            <a:off x="609600" y="5819775"/>
            <a:ext cx="10953750" cy="428625"/>
          </a:xfrm>
          <a:prstGeom prst="rect">
            <a:avLst/>
          </a:prstGeom>
          <a:noFill/>
        </p:spPr>
        <p:txBody>
          <a:bodyPr vert="horz" wrap="square" lIns="0" tIns="0" rIns="0" bIns="0" rtlCol="0">
            <a:noAutofit/>
          </a:bodyPr>
          <a:lstStyle/>
          <a:p>
            <a:pPr>
              <a:spcAft>
                <a:spcPts val="525"/>
              </a:spcAft>
            </a:pPr>
            <a:r>
              <a:rPr lang="en-US" sz="2100">
                <a:solidFill>
                  <a:srgbClr val="173B49"/>
                </a:solidFill>
                <a:latin typeface="Arial" panose="020B0604020202020204" pitchFamily="34" charset="0"/>
              </a:rPr>
              <a:t>Read the activity instructions before running cells.</a:t>
            </a:r>
          </a:p>
        </p:txBody>
      </p:sp>
      <p:sp>
        <p:nvSpPr>
          <p:cNvPr id="10" name="TextBox 9">
            <a:extLst>
              <a:ext uri="{FF2B5EF4-FFF2-40B4-BE49-F238E27FC236}">
                <a16:creationId xmlns:a16="http://schemas.microsoft.com/office/drawing/2014/main" id="{7447A02C-A195-EE0B-2E58-D1AF282852E9}"/>
              </a:ext>
            </a:extLst>
          </p:cNvPr>
          <p:cNvSpPr txBox="1"/>
          <p:nvPr/>
        </p:nvSpPr>
        <p:spPr>
          <a:xfrm>
            <a:off x="609600" y="6286499"/>
            <a:ext cx="10001250" cy="285750"/>
          </a:xfrm>
          <a:prstGeom prst="rect">
            <a:avLst/>
          </a:prstGeom>
          <a:noFill/>
        </p:spPr>
        <p:txBody>
          <a:bodyPr vert="horz" wrap="square" lIns="0" tIns="0" rIns="0" bIns="0" rtlCol="0">
            <a:noAutofit/>
          </a:bodyPr>
          <a:lstStyle/>
          <a:p>
            <a:pPr>
              <a:spcAft>
                <a:spcPts val="525"/>
              </a:spcAft>
            </a:pPr>
            <a:r>
              <a:rPr lang="en-US" sz="1725">
                <a:solidFill>
                  <a:srgbClr val="007F83"/>
                </a:solidFill>
                <a:latin typeface="Arial" panose="020B0604020202020204" pitchFamily="34" charset="0"/>
                <a:hlinkClick r:id="rId5">
                  <a:extLst>
                    <a:ext uri="{A12FA001-AC4F-418D-AE19-62706E023703}">
                      <ahyp:hlinkClr xmlns:ahyp="http://schemas.microsoft.com/office/drawing/2018/hyperlinkcolor" val="tx"/>
                    </a:ext>
                  </a:extLst>
                </a:hlinkClick>
              </a:rPr>
              <a:t>Open the course start page</a:t>
            </a:r>
            <a:endParaRPr lang="en-US" sz="1725">
              <a:solidFill>
                <a:srgbClr val="007F83"/>
              </a:solidFill>
              <a:latin typeface="Arial" panose="020B0604020202020204" pitchFamily="34" charset="0"/>
            </a:endParaRPr>
          </a:p>
        </p:txBody>
      </p:sp>
      <p:sp>
        <p:nvSpPr>
          <p:cNvPr id="11" name="TextBox 10">
            <a:extLst>
              <a:ext uri="{FF2B5EF4-FFF2-40B4-BE49-F238E27FC236}">
                <a16:creationId xmlns:a16="http://schemas.microsoft.com/office/drawing/2014/main" id="{8C13420F-5EC9-A9F0-0E84-8EA7B02E5AE6}"/>
              </a:ext>
            </a:extLst>
          </p:cNvPr>
          <p:cNvSpPr txBox="1"/>
          <p:nvPr/>
        </p:nvSpPr>
        <p:spPr>
          <a:xfrm>
            <a:off x="609600" y="400050"/>
            <a:ext cx="10972800" cy="714375"/>
          </a:xfrm>
          <a:prstGeom prst="rect">
            <a:avLst/>
          </a:prstGeom>
          <a:noFill/>
        </p:spPr>
        <p:txBody>
          <a:bodyPr vert="horz" wrap="square" lIns="0" tIns="0" rIns="0" bIns="0" rtlCol="0">
            <a:noAutofit/>
          </a:bodyPr>
          <a:lstStyle/>
          <a:p>
            <a:pPr>
              <a:spcAft>
                <a:spcPts val="525"/>
              </a:spcAft>
            </a:pPr>
            <a:r>
              <a:rPr lang="en-US" sz="3300" b="1">
                <a:solidFill>
                  <a:srgbClr val="173B49"/>
                </a:solidFill>
                <a:latin typeface="Arial" panose="020B0604020202020204" pitchFamily="34" charset="0"/>
              </a:rPr>
              <a:t>JupyterLite: where to start</a:t>
            </a:r>
          </a:p>
        </p:txBody>
      </p:sp>
      <p:sp>
        <p:nvSpPr>
          <p:cNvPr id="12" name="Rectangle 11">
            <a:extLst>
              <a:ext uri="{FF2B5EF4-FFF2-40B4-BE49-F238E27FC236}">
                <a16:creationId xmlns:a16="http://schemas.microsoft.com/office/drawing/2014/main" id="{E2C29126-72F9-78E1-89AF-C0701026257D}"/>
              </a:ext>
            </a:extLst>
          </p:cNvPr>
          <p:cNvSpPr/>
          <p:nvPr/>
        </p:nvSpPr>
        <p:spPr>
          <a:xfrm>
            <a:off x="609600" y="1200150"/>
            <a:ext cx="666750" cy="38100"/>
          </a:xfrm>
          <a:prstGeom prst="rect">
            <a:avLst/>
          </a:prstGeom>
          <a:solidFill>
            <a:srgbClr val="D89E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2961A95-A6DE-87FE-18C8-4FC9DB52AC53}"/>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52656E"/>
                </a:solidFill>
                <a:latin typeface="Arial" panose="020B0604020202020204" pitchFamily="34" charset="0"/>
              </a:rPr>
              <a:t>3</a:t>
            </a:r>
          </a:p>
        </p:txBody>
      </p:sp>
    </p:spTree>
    <p:extLst>
      <p:ext uri="{BB962C8B-B14F-4D97-AF65-F5344CB8AC3E}">
        <p14:creationId xmlns:p14="http://schemas.microsoft.com/office/powerpoint/2010/main" val="882118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D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21ACAA-D9A9-BEF9-43ED-0C21F6E5114F}"/>
              </a:ext>
            </a:extLst>
          </p:cNvPr>
          <p:cNvSpPr txBox="1"/>
          <p:nvPr/>
        </p:nvSpPr>
        <p:spPr>
          <a:xfrm>
            <a:off x="609600" y="1581150"/>
            <a:ext cx="3333750" cy="428625"/>
          </a:xfrm>
          <a:prstGeom prst="rect">
            <a:avLst/>
          </a:prstGeom>
          <a:noFill/>
        </p:spPr>
        <p:txBody>
          <a:bodyPr vert="horz" wrap="square" lIns="0" tIns="0" rIns="0" bIns="0" rtlCol="0">
            <a:noAutofit/>
          </a:bodyPr>
          <a:lstStyle/>
          <a:p>
            <a:pPr>
              <a:spcAft>
                <a:spcPts val="525"/>
              </a:spcAft>
            </a:pPr>
            <a:r>
              <a:rPr lang="en-US" sz="2175" b="1">
                <a:solidFill>
                  <a:srgbClr val="007F83"/>
                </a:solidFill>
                <a:latin typeface="Arial" panose="020B0604020202020204" pitchFamily="34" charset="0"/>
              </a:rPr>
              <a:t>The question</a:t>
            </a:r>
          </a:p>
        </p:txBody>
      </p:sp>
      <p:sp>
        <p:nvSpPr>
          <p:cNvPr id="3" name="TextBox 2">
            <a:extLst>
              <a:ext uri="{FF2B5EF4-FFF2-40B4-BE49-F238E27FC236}">
                <a16:creationId xmlns:a16="http://schemas.microsoft.com/office/drawing/2014/main" id="{70687925-6D81-8F84-836E-CE2FEBD7AEC1}"/>
              </a:ext>
            </a:extLst>
          </p:cNvPr>
          <p:cNvSpPr txBox="1"/>
          <p:nvPr/>
        </p:nvSpPr>
        <p:spPr>
          <a:xfrm>
            <a:off x="609600" y="2114549"/>
            <a:ext cx="3381375" cy="1238250"/>
          </a:xfrm>
          <a:prstGeom prst="rect">
            <a:avLst/>
          </a:prstGeom>
          <a:noFill/>
        </p:spPr>
        <p:txBody>
          <a:bodyPr vert="horz" wrap="square" lIns="0" tIns="0" rIns="0" bIns="0" rtlCol="0">
            <a:noAutofit/>
          </a:bodyPr>
          <a:lstStyle/>
          <a:p>
            <a:pPr>
              <a:spcAft>
                <a:spcPts val="525"/>
              </a:spcAft>
            </a:pPr>
            <a:r>
              <a:rPr lang="en-US" sz="2250">
                <a:solidFill>
                  <a:srgbClr val="173B49"/>
                </a:solidFill>
                <a:latin typeface="Arial" panose="020B0604020202020204" pitchFamily="34" charset="0"/>
              </a:rPr>
              <a:t>How much did Kambia's</a:t>
            </a:r>
          </a:p>
          <a:p>
            <a:pPr>
              <a:spcAft>
                <a:spcPts val="525"/>
              </a:spcAft>
            </a:pPr>
            <a:r>
              <a:rPr lang="en-US" sz="2250">
                <a:solidFill>
                  <a:srgbClr val="173B49"/>
                </a:solidFill>
                <a:latin typeface="Arial" panose="020B0604020202020204" pitchFamily="34" charset="0"/>
              </a:rPr>
              <a:t>reported count change?</a:t>
            </a:r>
          </a:p>
        </p:txBody>
      </p:sp>
      <p:sp>
        <p:nvSpPr>
          <p:cNvPr id="4" name="TextBox 3">
            <a:extLst>
              <a:ext uri="{FF2B5EF4-FFF2-40B4-BE49-F238E27FC236}">
                <a16:creationId xmlns:a16="http://schemas.microsoft.com/office/drawing/2014/main" id="{13E98552-A09F-A213-6C7D-9613AD0BBFDB}"/>
              </a:ext>
            </a:extLst>
          </p:cNvPr>
          <p:cNvSpPr txBox="1"/>
          <p:nvPr/>
        </p:nvSpPr>
        <p:spPr>
          <a:xfrm>
            <a:off x="4467225" y="1581150"/>
            <a:ext cx="6953250" cy="428625"/>
          </a:xfrm>
          <a:prstGeom prst="rect">
            <a:avLst/>
          </a:prstGeom>
          <a:noFill/>
        </p:spPr>
        <p:txBody>
          <a:bodyPr vert="horz" wrap="square" lIns="0" tIns="0" rIns="0" bIns="0" rtlCol="0">
            <a:noAutofit/>
          </a:bodyPr>
          <a:lstStyle/>
          <a:p>
            <a:pPr>
              <a:spcAft>
                <a:spcPts val="525"/>
              </a:spcAft>
            </a:pPr>
            <a:r>
              <a:rPr lang="en-US" sz="2175" b="1">
                <a:solidFill>
                  <a:srgbClr val="007F83"/>
                </a:solidFill>
                <a:latin typeface="Arial" panose="020B0604020202020204" pitchFamily="34" charset="0"/>
              </a:rPr>
              <a:t>The calculation</a:t>
            </a:r>
          </a:p>
        </p:txBody>
      </p:sp>
      <p:sp>
        <p:nvSpPr>
          <p:cNvPr id="5" name="Rectangle 4">
            <a:extLst>
              <a:ext uri="{FF2B5EF4-FFF2-40B4-BE49-F238E27FC236}">
                <a16:creationId xmlns:a16="http://schemas.microsoft.com/office/drawing/2014/main" id="{848517FD-9FA4-DB55-B4D9-86B58283FF20}"/>
              </a:ext>
            </a:extLst>
          </p:cNvPr>
          <p:cNvSpPr/>
          <p:nvPr/>
        </p:nvSpPr>
        <p:spPr>
          <a:xfrm>
            <a:off x="4333875" y="2114550"/>
            <a:ext cx="7239000" cy="1828800"/>
          </a:xfrm>
          <a:prstGeom prst="rect">
            <a:avLst/>
          </a:prstGeom>
          <a:solidFill>
            <a:srgbClr val="EEF4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8F15D43-B0C5-4699-A189-EA1ED30F48EB}"/>
              </a:ext>
            </a:extLst>
          </p:cNvPr>
          <p:cNvSpPr txBox="1"/>
          <p:nvPr/>
        </p:nvSpPr>
        <p:spPr>
          <a:xfrm>
            <a:off x="4552950" y="2324100"/>
            <a:ext cx="6724650" cy="1381125"/>
          </a:xfrm>
          <a:prstGeom prst="rect">
            <a:avLst/>
          </a:prstGeom>
          <a:noFill/>
        </p:spPr>
        <p:txBody>
          <a:bodyPr vert="horz" wrap="square" lIns="0" tIns="0" rIns="0" bIns="0" rtlCol="0">
            <a:noAutofit/>
          </a:bodyPr>
          <a:lstStyle/>
          <a:p>
            <a:pPr>
              <a:spcAft>
                <a:spcPts val="525"/>
              </a:spcAft>
            </a:pPr>
            <a:r>
              <a:rPr lang="nl-NL" sz="2100">
                <a:solidFill>
                  <a:srgbClr val="173B49"/>
                </a:solidFill>
                <a:latin typeface="Consolas" panose="020B0609020204030204" pitchFamily="49" charset="0"/>
              </a:rPr>
              <a:t>week_1 = 2</a:t>
            </a:r>
          </a:p>
          <a:p>
            <a:pPr>
              <a:spcAft>
                <a:spcPts val="525"/>
              </a:spcAft>
            </a:pPr>
            <a:r>
              <a:rPr lang="nl-NL" sz="2100">
                <a:solidFill>
                  <a:srgbClr val="173B49"/>
                </a:solidFill>
                <a:latin typeface="Consolas" panose="020B0609020204030204" pitchFamily="49" charset="0"/>
              </a:rPr>
              <a:t>week_2 = 7</a:t>
            </a:r>
          </a:p>
          <a:p>
            <a:pPr>
              <a:spcAft>
                <a:spcPts val="525"/>
              </a:spcAft>
            </a:pPr>
            <a:r>
              <a:rPr lang="nl-NL" sz="2100">
                <a:solidFill>
                  <a:srgbClr val="173B49"/>
                </a:solidFill>
                <a:latin typeface="Consolas" panose="020B0609020204030204" pitchFamily="49" charset="0"/>
              </a:rPr>
              <a:t>week_2 - week_1</a:t>
            </a:r>
            <a:endParaRPr lang="en-US" sz="2100">
              <a:solidFill>
                <a:srgbClr val="173B49"/>
              </a:solidFill>
              <a:latin typeface="Consolas" panose="020B0609020204030204" pitchFamily="49" charset="0"/>
            </a:endParaRPr>
          </a:p>
        </p:txBody>
      </p:sp>
      <p:sp>
        <p:nvSpPr>
          <p:cNvPr id="7" name="TextBox 6">
            <a:extLst>
              <a:ext uri="{FF2B5EF4-FFF2-40B4-BE49-F238E27FC236}">
                <a16:creationId xmlns:a16="http://schemas.microsoft.com/office/drawing/2014/main" id="{29CA1B85-7BAB-5AC0-71CE-7E485A007064}"/>
              </a:ext>
            </a:extLst>
          </p:cNvPr>
          <p:cNvSpPr txBox="1"/>
          <p:nvPr/>
        </p:nvSpPr>
        <p:spPr>
          <a:xfrm>
            <a:off x="609600" y="4248149"/>
            <a:ext cx="3333750" cy="419100"/>
          </a:xfrm>
          <a:prstGeom prst="rect">
            <a:avLst/>
          </a:prstGeom>
          <a:noFill/>
        </p:spPr>
        <p:txBody>
          <a:bodyPr vert="horz" wrap="square" lIns="0" tIns="0" rIns="0" bIns="0" rtlCol="0">
            <a:noAutofit/>
          </a:bodyPr>
          <a:lstStyle/>
          <a:p>
            <a:pPr>
              <a:spcAft>
                <a:spcPts val="525"/>
              </a:spcAft>
            </a:pPr>
            <a:r>
              <a:rPr lang="en-US" sz="2175" b="1">
                <a:solidFill>
                  <a:srgbClr val="007F83"/>
                </a:solidFill>
                <a:latin typeface="Arial" panose="020B0604020202020204" pitchFamily="34" charset="0"/>
              </a:rPr>
              <a:t>The result</a:t>
            </a:r>
          </a:p>
        </p:txBody>
      </p:sp>
      <p:sp>
        <p:nvSpPr>
          <p:cNvPr id="8" name="TextBox 7">
            <a:extLst>
              <a:ext uri="{FF2B5EF4-FFF2-40B4-BE49-F238E27FC236}">
                <a16:creationId xmlns:a16="http://schemas.microsoft.com/office/drawing/2014/main" id="{964B56FF-C6D1-F696-EAC1-A5E240FE7471}"/>
              </a:ext>
            </a:extLst>
          </p:cNvPr>
          <p:cNvSpPr txBox="1"/>
          <p:nvPr/>
        </p:nvSpPr>
        <p:spPr>
          <a:xfrm>
            <a:off x="609600" y="4772025"/>
            <a:ext cx="10906125" cy="523875"/>
          </a:xfrm>
          <a:prstGeom prst="rect">
            <a:avLst/>
          </a:prstGeom>
          <a:noFill/>
        </p:spPr>
        <p:txBody>
          <a:bodyPr vert="horz" wrap="square" lIns="0" tIns="0" rIns="0" bIns="0" rtlCol="0">
            <a:noAutofit/>
          </a:bodyPr>
          <a:lstStyle/>
          <a:p>
            <a:pPr>
              <a:spcAft>
                <a:spcPts val="525"/>
              </a:spcAft>
            </a:pPr>
            <a:r>
              <a:rPr lang="en-US" sz="2700" b="1">
                <a:solidFill>
                  <a:srgbClr val="173B49"/>
                </a:solidFill>
                <a:latin typeface="Arial" panose="020B0604020202020204" pitchFamily="34" charset="0"/>
              </a:rPr>
              <a:t>Kambia: an increase of 5 reported cases</a:t>
            </a:r>
          </a:p>
        </p:txBody>
      </p:sp>
      <p:sp>
        <p:nvSpPr>
          <p:cNvPr id="9" name="TextBox 8">
            <a:extLst>
              <a:ext uri="{FF2B5EF4-FFF2-40B4-BE49-F238E27FC236}">
                <a16:creationId xmlns:a16="http://schemas.microsoft.com/office/drawing/2014/main" id="{E78B0A90-0FD3-AFCE-3222-079F89457509}"/>
              </a:ext>
            </a:extLst>
          </p:cNvPr>
          <p:cNvSpPr txBox="1"/>
          <p:nvPr/>
        </p:nvSpPr>
        <p:spPr>
          <a:xfrm>
            <a:off x="609600" y="5600700"/>
            <a:ext cx="10906125" cy="619125"/>
          </a:xfrm>
          <a:prstGeom prst="rect">
            <a:avLst/>
          </a:prstGeom>
          <a:noFill/>
        </p:spPr>
        <p:txBody>
          <a:bodyPr vert="horz" wrap="square" lIns="0" tIns="0" rIns="0" bIns="0" rtlCol="0">
            <a:noAutofit/>
          </a:bodyPr>
          <a:lstStyle/>
          <a:p>
            <a:pPr>
              <a:spcAft>
                <a:spcPts val="525"/>
              </a:spcAft>
            </a:pPr>
            <a:r>
              <a:rPr lang="en-US" sz="2175">
                <a:solidFill>
                  <a:srgbClr val="173B49"/>
                </a:solidFill>
                <a:latin typeface="Arial" panose="020B0604020202020204" pitchFamily="34" charset="0"/>
              </a:rPr>
              <a:t>The count rose. Verify the reports before explaining why.</a:t>
            </a:r>
          </a:p>
        </p:txBody>
      </p:sp>
      <p:sp>
        <p:nvSpPr>
          <p:cNvPr id="10" name="TextBox 9">
            <a:extLst>
              <a:ext uri="{FF2B5EF4-FFF2-40B4-BE49-F238E27FC236}">
                <a16:creationId xmlns:a16="http://schemas.microsoft.com/office/drawing/2014/main" id="{3B5F5189-A032-8864-AA3B-D99ACDD731FC}"/>
              </a:ext>
            </a:extLst>
          </p:cNvPr>
          <p:cNvSpPr txBox="1"/>
          <p:nvPr/>
        </p:nvSpPr>
        <p:spPr>
          <a:xfrm>
            <a:off x="609600" y="400050"/>
            <a:ext cx="10972800" cy="714375"/>
          </a:xfrm>
          <a:prstGeom prst="rect">
            <a:avLst/>
          </a:prstGeom>
          <a:noFill/>
        </p:spPr>
        <p:txBody>
          <a:bodyPr vert="horz" wrap="square" lIns="0" tIns="0" rIns="0" bIns="0" rtlCol="0">
            <a:noAutofit/>
          </a:bodyPr>
          <a:lstStyle/>
          <a:p>
            <a:pPr>
              <a:spcAft>
                <a:spcPts val="525"/>
              </a:spcAft>
            </a:pPr>
            <a:r>
              <a:rPr lang="en-US" sz="3300" b="1">
                <a:solidFill>
                  <a:srgbClr val="173B49"/>
                </a:solidFill>
                <a:latin typeface="Arial" panose="020B0604020202020204" pitchFamily="34" charset="0"/>
              </a:rPr>
              <a:t>A computational narrative</a:t>
            </a:r>
          </a:p>
        </p:txBody>
      </p:sp>
      <p:sp>
        <p:nvSpPr>
          <p:cNvPr id="11" name="Rectangle 10">
            <a:extLst>
              <a:ext uri="{FF2B5EF4-FFF2-40B4-BE49-F238E27FC236}">
                <a16:creationId xmlns:a16="http://schemas.microsoft.com/office/drawing/2014/main" id="{6876AD33-1797-482F-9AC9-E23B4CF9AA54}"/>
              </a:ext>
            </a:extLst>
          </p:cNvPr>
          <p:cNvSpPr/>
          <p:nvPr/>
        </p:nvSpPr>
        <p:spPr>
          <a:xfrm>
            <a:off x="609600" y="1200150"/>
            <a:ext cx="666750" cy="38100"/>
          </a:xfrm>
          <a:prstGeom prst="rect">
            <a:avLst/>
          </a:prstGeom>
          <a:solidFill>
            <a:srgbClr val="D89E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046B9D6-0210-944E-B8A5-6CF1DFE6B4B5}"/>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52656E"/>
                </a:solidFill>
                <a:latin typeface="Arial" panose="020B0604020202020204" pitchFamily="34" charset="0"/>
              </a:rPr>
              <a:t>4</a:t>
            </a:r>
          </a:p>
        </p:txBody>
      </p:sp>
    </p:spTree>
    <p:extLst>
      <p:ext uri="{BB962C8B-B14F-4D97-AF65-F5344CB8AC3E}">
        <p14:creationId xmlns:p14="http://schemas.microsoft.com/office/powerpoint/2010/main" val="337098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DFA"/>
        </a:solidFill>
        <a:effectLst/>
      </p:bgPr>
    </p:bg>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7C49803-E458-05FC-B997-EF97773209D2}"/>
              </a:ext>
            </a:extLst>
          </p:cNvPr>
          <p:cNvGraphicFramePr>
            <a:graphicFrameLocks noGrp="1"/>
          </p:cNvGraphicFramePr>
          <p:nvPr>
            <p:extLst>
              <p:ext uri="{D42A27DB-BD31-4B8C-83A1-F6EECF244321}">
                <p14:modId xmlns:p14="http://schemas.microsoft.com/office/powerpoint/2010/main" val="522987351"/>
              </p:ext>
            </p:extLst>
          </p:nvPr>
        </p:nvGraphicFramePr>
        <p:xfrm>
          <a:off x="609600" y="1590675"/>
          <a:ext cx="10953750" cy="4171950"/>
        </p:xfrm>
        <a:graphic>
          <a:graphicData uri="http://schemas.openxmlformats.org/drawingml/2006/table">
            <a:tbl>
              <a:tblPr firstRow="1" bandRow="1">
                <a:tableStyleId>{5C22544A-7EE6-4342-B048-85BDC9FD1C3A}</a:tableStyleId>
              </a:tblPr>
              <a:tblGrid>
                <a:gridCol w="3762375">
                  <a:extLst>
                    <a:ext uri="{9D8B030D-6E8A-4147-A177-3AD203B41FA5}">
                      <a16:colId xmlns:a16="http://schemas.microsoft.com/office/drawing/2014/main" val="550168640"/>
                    </a:ext>
                  </a:extLst>
                </a:gridCol>
                <a:gridCol w="7191375">
                  <a:extLst>
                    <a:ext uri="{9D8B030D-6E8A-4147-A177-3AD203B41FA5}">
                      <a16:colId xmlns:a16="http://schemas.microsoft.com/office/drawing/2014/main" val="1805236104"/>
                    </a:ext>
                  </a:extLst>
                </a:gridCol>
              </a:tblGrid>
              <a:tr h="695325">
                <a:tc>
                  <a:txBody>
                    <a:bodyPr/>
                    <a:lstStyle/>
                    <a:p>
                      <a:r>
                        <a:rPr lang="en-US" sz="2025" b="1">
                          <a:solidFill>
                            <a:srgbClr val="FFFFFF"/>
                          </a:solidFill>
                          <a:latin typeface="Arial" panose="020B0604020202020204" pitchFamily="34" charset="0"/>
                        </a:rPr>
                        <a:t>Tool</a:t>
                      </a:r>
                    </a:p>
                  </a:txBody>
                  <a:tcPr marL="114300" marR="114300" marT="63500" marB="63500" anchor="ctr">
                    <a:solidFill>
                      <a:srgbClr val="007F83"/>
                    </a:solidFill>
                  </a:tcPr>
                </a:tc>
                <a:tc>
                  <a:txBody>
                    <a:bodyPr/>
                    <a:lstStyle/>
                    <a:p>
                      <a:r>
                        <a:rPr lang="en-US" sz="2025" b="1">
                          <a:solidFill>
                            <a:srgbClr val="FFFFFF"/>
                          </a:solidFill>
                          <a:latin typeface="Arial" panose="020B0604020202020204" pitchFamily="34" charset="0"/>
                        </a:rPr>
                        <a:t>What the learner uses it for</a:t>
                      </a:r>
                    </a:p>
                  </a:txBody>
                  <a:tcPr marL="114300" marR="114300" marT="63500" marB="63500" anchor="ctr">
                    <a:solidFill>
                      <a:srgbClr val="007F83"/>
                    </a:solidFill>
                  </a:tcPr>
                </a:tc>
                <a:extLst>
                  <a:ext uri="{0D108BD9-81ED-4DB2-BD59-A6C34878D82A}">
                    <a16:rowId xmlns:a16="http://schemas.microsoft.com/office/drawing/2014/main" val="292498047"/>
                  </a:ext>
                </a:extLst>
              </a:tr>
              <a:tr h="695325">
                <a:tc>
                  <a:txBody>
                    <a:bodyPr/>
                    <a:lstStyle/>
                    <a:p>
                      <a:r>
                        <a:rPr lang="en-US" sz="2025" b="0">
                          <a:solidFill>
                            <a:srgbClr val="173B49"/>
                          </a:solidFill>
                          <a:latin typeface="Arial" panose="020B0604020202020204" pitchFamily="34" charset="0"/>
                        </a:rPr>
                        <a:t>Jupyter notebook</a:t>
                      </a:r>
                    </a:p>
                  </a:txBody>
                  <a:tcPr marL="114300" marR="114300" marT="63500" marB="63500" anchor="ctr">
                    <a:solidFill>
                      <a:srgbClr val="F0F6F5"/>
                    </a:solidFill>
                  </a:tcPr>
                </a:tc>
                <a:tc>
                  <a:txBody>
                    <a:bodyPr/>
                    <a:lstStyle/>
                    <a:p>
                      <a:r>
                        <a:rPr lang="en-US" sz="2025" b="0">
                          <a:solidFill>
                            <a:srgbClr val="173B49"/>
                          </a:solidFill>
                          <a:latin typeface="Arial" panose="020B0604020202020204" pitchFamily="34" charset="0"/>
                        </a:rPr>
                        <a:t>Read the case, run steps, inspect results</a:t>
                      </a:r>
                    </a:p>
                  </a:txBody>
                  <a:tcPr marL="114300" marR="114300" marT="63500" marB="63500" anchor="ctr">
                    <a:solidFill>
                      <a:srgbClr val="F0F6F5"/>
                    </a:solidFill>
                  </a:tcPr>
                </a:tc>
                <a:extLst>
                  <a:ext uri="{0D108BD9-81ED-4DB2-BD59-A6C34878D82A}">
                    <a16:rowId xmlns:a16="http://schemas.microsoft.com/office/drawing/2014/main" val="870999886"/>
                  </a:ext>
                </a:extLst>
              </a:tr>
              <a:tr h="695325">
                <a:tc>
                  <a:txBody>
                    <a:bodyPr/>
                    <a:lstStyle/>
                    <a:p>
                      <a:r>
                        <a:rPr lang="en-US" sz="2025" b="0">
                          <a:solidFill>
                            <a:srgbClr val="173B49"/>
                          </a:solidFill>
                          <a:latin typeface="Arial" panose="020B0604020202020204" pitchFamily="34" charset="0"/>
                        </a:rPr>
                        <a:t>JupyterLab interface</a:t>
                      </a:r>
                    </a:p>
                  </a:txBody>
                  <a:tcPr marL="114300" marR="114300" marT="63500" marB="63500" anchor="ctr">
                    <a:solidFill>
                      <a:srgbClr val="FFFFFF"/>
                    </a:solidFill>
                  </a:tcPr>
                </a:tc>
                <a:tc>
                  <a:txBody>
                    <a:bodyPr/>
                    <a:lstStyle/>
                    <a:p>
                      <a:r>
                        <a:rPr lang="en-US" sz="2025" b="0">
                          <a:solidFill>
                            <a:srgbClr val="173B49"/>
                          </a:solidFill>
                          <a:latin typeface="Arial" panose="020B0604020202020204" pitchFamily="34" charset="0"/>
                        </a:rPr>
                        <a:t>Open files and use notebook controls</a:t>
                      </a:r>
                    </a:p>
                  </a:txBody>
                  <a:tcPr marL="114300" marR="114300" marT="63500" marB="63500" anchor="ctr">
                    <a:solidFill>
                      <a:srgbClr val="FFFFFF"/>
                    </a:solidFill>
                  </a:tcPr>
                </a:tc>
                <a:extLst>
                  <a:ext uri="{0D108BD9-81ED-4DB2-BD59-A6C34878D82A}">
                    <a16:rowId xmlns:a16="http://schemas.microsoft.com/office/drawing/2014/main" val="3479774467"/>
                  </a:ext>
                </a:extLst>
              </a:tr>
              <a:tr h="695325">
                <a:tc>
                  <a:txBody>
                    <a:bodyPr/>
                    <a:lstStyle/>
                    <a:p>
                      <a:r>
                        <a:rPr lang="en-US" sz="2025" b="0">
                          <a:solidFill>
                            <a:srgbClr val="173B49"/>
                          </a:solidFill>
                          <a:latin typeface="Arial" panose="020B0604020202020204" pitchFamily="34" charset="0"/>
                        </a:rPr>
                        <a:t>JupyterLite</a:t>
                      </a:r>
                    </a:p>
                  </a:txBody>
                  <a:tcPr marL="114300" marR="114300" marT="63500" marB="63500" anchor="ctr">
                    <a:solidFill>
                      <a:srgbClr val="F0F6F5"/>
                    </a:solidFill>
                  </a:tcPr>
                </a:tc>
                <a:tc>
                  <a:txBody>
                    <a:bodyPr/>
                    <a:lstStyle/>
                    <a:p>
                      <a:r>
                        <a:rPr lang="en-US" sz="2025" b="0">
                          <a:solidFill>
                            <a:srgbClr val="173B49"/>
                          </a:solidFill>
                          <a:latin typeface="Arial" panose="020B0604020202020204" pitchFamily="34" charset="0"/>
                        </a:rPr>
                        <a:t>Work through the course in a browser</a:t>
                      </a:r>
                    </a:p>
                  </a:txBody>
                  <a:tcPr marL="114300" marR="114300" marT="63500" marB="63500" anchor="ctr">
                    <a:solidFill>
                      <a:srgbClr val="F0F6F5"/>
                    </a:solidFill>
                  </a:tcPr>
                </a:tc>
                <a:extLst>
                  <a:ext uri="{0D108BD9-81ED-4DB2-BD59-A6C34878D82A}">
                    <a16:rowId xmlns:a16="http://schemas.microsoft.com/office/drawing/2014/main" val="4004444677"/>
                  </a:ext>
                </a:extLst>
              </a:tr>
              <a:tr h="695325">
                <a:tc>
                  <a:txBody>
                    <a:bodyPr/>
                    <a:lstStyle/>
                    <a:p>
                      <a:r>
                        <a:rPr lang="en-US" sz="2025" b="0">
                          <a:solidFill>
                            <a:srgbClr val="173B49"/>
                          </a:solidFill>
                          <a:latin typeface="Arial" panose="020B0604020202020204" pitchFamily="34" charset="0"/>
                        </a:rPr>
                        <a:t>Python and its libraries</a:t>
                      </a:r>
                    </a:p>
                  </a:txBody>
                  <a:tcPr marL="114300" marR="114300" marT="63500" marB="63500" anchor="ctr">
                    <a:solidFill>
                      <a:srgbClr val="FFFFFF"/>
                    </a:solidFill>
                  </a:tcPr>
                </a:tc>
                <a:tc>
                  <a:txBody>
                    <a:bodyPr/>
                    <a:lstStyle/>
                    <a:p>
                      <a:r>
                        <a:rPr lang="en-US" sz="2025" b="0">
                          <a:solidFill>
                            <a:srgbClr val="173B49"/>
                          </a:solidFill>
                          <a:latin typeface="Arial" panose="020B0604020202020204" pitchFamily="34" charset="0"/>
                        </a:rPr>
                        <a:t>Calculate summaries and draw charts</a:t>
                      </a:r>
                    </a:p>
                  </a:txBody>
                  <a:tcPr marL="114300" marR="114300" marT="63500" marB="63500" anchor="ctr">
                    <a:solidFill>
                      <a:srgbClr val="FFFFFF"/>
                    </a:solidFill>
                  </a:tcPr>
                </a:tc>
                <a:extLst>
                  <a:ext uri="{0D108BD9-81ED-4DB2-BD59-A6C34878D82A}">
                    <a16:rowId xmlns:a16="http://schemas.microsoft.com/office/drawing/2014/main" val="1572648968"/>
                  </a:ext>
                </a:extLst>
              </a:tr>
              <a:tr h="695325">
                <a:tc>
                  <a:txBody>
                    <a:bodyPr/>
                    <a:lstStyle/>
                    <a:p>
                      <a:r>
                        <a:rPr lang="en-US" sz="2025" b="0">
                          <a:solidFill>
                            <a:srgbClr val="173B49"/>
                          </a:solidFill>
                          <a:latin typeface="Arial" panose="020B0604020202020204" pitchFamily="34" charset="0"/>
                        </a:rPr>
                        <a:t>Course extension</a:t>
                      </a:r>
                    </a:p>
                  </a:txBody>
                  <a:tcPr marL="114300" marR="114300" marT="63500" marB="63500" anchor="ctr">
                    <a:solidFill>
                      <a:srgbClr val="F0F6F5"/>
                    </a:solidFill>
                  </a:tcPr>
                </a:tc>
                <a:tc>
                  <a:txBody>
                    <a:bodyPr/>
                    <a:lstStyle/>
                    <a:p>
                      <a:r>
                        <a:rPr lang="en-US" sz="2025" b="0">
                          <a:solidFill>
                            <a:srgbClr val="173B49"/>
                          </a:solidFill>
                          <a:latin typeface="Arial" panose="020B0604020202020204" pitchFamily="34" charset="0"/>
                        </a:rPr>
                        <a:t>Get feedback and suggested activities</a:t>
                      </a:r>
                    </a:p>
                  </a:txBody>
                  <a:tcPr marL="114300" marR="114300" marT="63500" marB="63500" anchor="ctr">
                    <a:solidFill>
                      <a:srgbClr val="F0F6F5"/>
                    </a:solidFill>
                  </a:tcPr>
                </a:tc>
                <a:extLst>
                  <a:ext uri="{0D108BD9-81ED-4DB2-BD59-A6C34878D82A}">
                    <a16:rowId xmlns:a16="http://schemas.microsoft.com/office/drawing/2014/main" val="3819250512"/>
                  </a:ext>
                </a:extLst>
              </a:tr>
            </a:tbl>
          </a:graphicData>
        </a:graphic>
      </p:graphicFrame>
      <p:sp>
        <p:nvSpPr>
          <p:cNvPr id="3" name="TextBox 2">
            <a:extLst>
              <a:ext uri="{FF2B5EF4-FFF2-40B4-BE49-F238E27FC236}">
                <a16:creationId xmlns:a16="http://schemas.microsoft.com/office/drawing/2014/main" id="{B868EE83-5A37-B905-37E9-53D71D4F17ED}"/>
              </a:ext>
            </a:extLst>
          </p:cNvPr>
          <p:cNvSpPr txBox="1"/>
          <p:nvPr/>
        </p:nvSpPr>
        <p:spPr>
          <a:xfrm>
            <a:off x="609600" y="400050"/>
            <a:ext cx="10972800" cy="714375"/>
          </a:xfrm>
          <a:prstGeom prst="rect">
            <a:avLst/>
          </a:prstGeom>
          <a:noFill/>
        </p:spPr>
        <p:txBody>
          <a:bodyPr vert="horz" wrap="square" lIns="0" tIns="0" rIns="0" bIns="0" rtlCol="0">
            <a:noAutofit/>
          </a:bodyPr>
          <a:lstStyle/>
          <a:p>
            <a:pPr>
              <a:spcAft>
                <a:spcPts val="525"/>
              </a:spcAft>
            </a:pPr>
            <a:r>
              <a:rPr lang="en-US" sz="3300" b="1">
                <a:solidFill>
                  <a:srgbClr val="173B49"/>
                </a:solidFill>
                <a:latin typeface="Arial" panose="020B0604020202020204" pitchFamily="34" charset="0"/>
              </a:rPr>
              <a:t>The tools supporting the activity</a:t>
            </a:r>
          </a:p>
        </p:txBody>
      </p:sp>
      <p:sp>
        <p:nvSpPr>
          <p:cNvPr id="4" name="Rectangle 3">
            <a:extLst>
              <a:ext uri="{FF2B5EF4-FFF2-40B4-BE49-F238E27FC236}">
                <a16:creationId xmlns:a16="http://schemas.microsoft.com/office/drawing/2014/main" id="{EBD49880-5C94-BD60-CE79-75260C375AEA}"/>
              </a:ext>
            </a:extLst>
          </p:cNvPr>
          <p:cNvSpPr/>
          <p:nvPr/>
        </p:nvSpPr>
        <p:spPr>
          <a:xfrm>
            <a:off x="609600" y="1200150"/>
            <a:ext cx="666750" cy="38100"/>
          </a:xfrm>
          <a:prstGeom prst="rect">
            <a:avLst/>
          </a:prstGeom>
          <a:solidFill>
            <a:srgbClr val="D89E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C247DEB-8DF0-A3AC-4AD6-69B5A0C07E7E}"/>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52656E"/>
                </a:solidFill>
                <a:latin typeface="Arial" panose="020B0604020202020204" pitchFamily="34" charset="0"/>
              </a:rPr>
              <a:t>5</a:t>
            </a:r>
          </a:p>
        </p:txBody>
      </p:sp>
    </p:spTree>
    <p:extLst>
      <p:ext uri="{BB962C8B-B14F-4D97-AF65-F5344CB8AC3E}">
        <p14:creationId xmlns:p14="http://schemas.microsoft.com/office/powerpoint/2010/main" val="1186965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D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2F4B80-622C-CD49-93D8-1BB4C1B2DBDC}"/>
              </a:ext>
            </a:extLst>
          </p:cNvPr>
          <p:cNvSpPr txBox="1"/>
          <p:nvPr/>
        </p:nvSpPr>
        <p:spPr>
          <a:xfrm>
            <a:off x="609600" y="1571624"/>
            <a:ext cx="609600" cy="438150"/>
          </a:xfrm>
          <a:prstGeom prst="rect">
            <a:avLst/>
          </a:prstGeom>
          <a:noFill/>
        </p:spPr>
        <p:txBody>
          <a:bodyPr vert="horz" wrap="square" lIns="0" tIns="0" rIns="0" bIns="0" rtlCol="0">
            <a:noAutofit/>
          </a:bodyPr>
          <a:lstStyle/>
          <a:p>
            <a:pPr>
              <a:spcAft>
                <a:spcPts val="525"/>
              </a:spcAft>
            </a:pPr>
            <a:r>
              <a:rPr lang="en-US" sz="2250" b="1">
                <a:solidFill>
                  <a:srgbClr val="D89E2B"/>
                </a:solidFill>
                <a:latin typeface="Arial" panose="020B0604020202020204" pitchFamily="34" charset="0"/>
              </a:rPr>
              <a:t>01</a:t>
            </a:r>
          </a:p>
        </p:txBody>
      </p:sp>
      <p:sp>
        <p:nvSpPr>
          <p:cNvPr id="3" name="TextBox 2">
            <a:extLst>
              <a:ext uri="{FF2B5EF4-FFF2-40B4-BE49-F238E27FC236}">
                <a16:creationId xmlns:a16="http://schemas.microsoft.com/office/drawing/2014/main" id="{213E6431-A29F-3D6D-446B-3675269B5A30}"/>
              </a:ext>
            </a:extLst>
          </p:cNvPr>
          <p:cNvSpPr txBox="1"/>
          <p:nvPr/>
        </p:nvSpPr>
        <p:spPr>
          <a:xfrm>
            <a:off x="1476375" y="1571625"/>
            <a:ext cx="2095500" cy="447675"/>
          </a:xfrm>
          <a:prstGeom prst="rect">
            <a:avLst/>
          </a:prstGeom>
          <a:noFill/>
        </p:spPr>
        <p:txBody>
          <a:bodyPr vert="horz" wrap="square" lIns="0" tIns="0" rIns="0" bIns="0" rtlCol="0">
            <a:noAutofit/>
          </a:bodyPr>
          <a:lstStyle/>
          <a:p>
            <a:pPr>
              <a:spcAft>
                <a:spcPts val="525"/>
              </a:spcAft>
            </a:pPr>
            <a:r>
              <a:rPr lang="en-US" sz="2400" b="1">
                <a:solidFill>
                  <a:srgbClr val="007F83"/>
                </a:solidFill>
                <a:latin typeface="Arial" panose="020B0604020202020204" pitchFamily="34" charset="0"/>
              </a:rPr>
              <a:t>Predict</a:t>
            </a:r>
          </a:p>
        </p:txBody>
      </p:sp>
      <p:sp>
        <p:nvSpPr>
          <p:cNvPr id="4" name="TextBox 3">
            <a:extLst>
              <a:ext uri="{FF2B5EF4-FFF2-40B4-BE49-F238E27FC236}">
                <a16:creationId xmlns:a16="http://schemas.microsoft.com/office/drawing/2014/main" id="{542768AC-659D-550E-603F-D9DB766E01A4}"/>
              </a:ext>
            </a:extLst>
          </p:cNvPr>
          <p:cNvSpPr txBox="1"/>
          <p:nvPr/>
        </p:nvSpPr>
        <p:spPr>
          <a:xfrm>
            <a:off x="3952875" y="1571625"/>
            <a:ext cx="7524750" cy="504825"/>
          </a:xfrm>
          <a:prstGeom prst="rect">
            <a:avLst/>
          </a:prstGeom>
          <a:noFill/>
        </p:spPr>
        <p:txBody>
          <a:bodyPr vert="horz" wrap="square" lIns="0" tIns="0" rIns="0" bIns="0" rtlCol="0">
            <a:noAutofit/>
          </a:bodyPr>
          <a:lstStyle/>
          <a:p>
            <a:pPr>
              <a:spcAft>
                <a:spcPts val="525"/>
              </a:spcAft>
            </a:pPr>
            <a:r>
              <a:rPr lang="en-US" sz="2175">
                <a:solidFill>
                  <a:srgbClr val="173B49"/>
                </a:solidFill>
                <a:latin typeface="Arial" panose="020B0604020202020204" pitchFamily="34" charset="0"/>
              </a:rPr>
              <a:t>What do you expect to find?</a:t>
            </a:r>
          </a:p>
        </p:txBody>
      </p:sp>
      <p:sp>
        <p:nvSpPr>
          <p:cNvPr id="5" name="TextBox 4">
            <a:extLst>
              <a:ext uri="{FF2B5EF4-FFF2-40B4-BE49-F238E27FC236}">
                <a16:creationId xmlns:a16="http://schemas.microsoft.com/office/drawing/2014/main" id="{B2E67557-5523-35B1-254C-E5A7D9D525B8}"/>
              </a:ext>
            </a:extLst>
          </p:cNvPr>
          <p:cNvSpPr txBox="1"/>
          <p:nvPr/>
        </p:nvSpPr>
        <p:spPr>
          <a:xfrm>
            <a:off x="609600" y="2324099"/>
            <a:ext cx="609600" cy="438150"/>
          </a:xfrm>
          <a:prstGeom prst="rect">
            <a:avLst/>
          </a:prstGeom>
          <a:noFill/>
        </p:spPr>
        <p:txBody>
          <a:bodyPr vert="horz" wrap="square" lIns="0" tIns="0" rIns="0" bIns="0" rtlCol="0">
            <a:noAutofit/>
          </a:bodyPr>
          <a:lstStyle/>
          <a:p>
            <a:pPr>
              <a:spcAft>
                <a:spcPts val="525"/>
              </a:spcAft>
            </a:pPr>
            <a:r>
              <a:rPr lang="en-US" sz="2250" b="1">
                <a:solidFill>
                  <a:srgbClr val="D89E2B"/>
                </a:solidFill>
                <a:latin typeface="Arial" panose="020B0604020202020204" pitchFamily="34" charset="0"/>
              </a:rPr>
              <a:t>02</a:t>
            </a:r>
          </a:p>
        </p:txBody>
      </p:sp>
      <p:sp>
        <p:nvSpPr>
          <p:cNvPr id="6" name="TextBox 5">
            <a:extLst>
              <a:ext uri="{FF2B5EF4-FFF2-40B4-BE49-F238E27FC236}">
                <a16:creationId xmlns:a16="http://schemas.microsoft.com/office/drawing/2014/main" id="{7C3DA206-B9F9-AB97-D7F8-7558F8B87262}"/>
              </a:ext>
            </a:extLst>
          </p:cNvPr>
          <p:cNvSpPr txBox="1"/>
          <p:nvPr/>
        </p:nvSpPr>
        <p:spPr>
          <a:xfrm>
            <a:off x="1476375" y="2324100"/>
            <a:ext cx="2095500" cy="447675"/>
          </a:xfrm>
          <a:prstGeom prst="rect">
            <a:avLst/>
          </a:prstGeom>
          <a:noFill/>
        </p:spPr>
        <p:txBody>
          <a:bodyPr vert="horz" wrap="square" lIns="0" tIns="0" rIns="0" bIns="0" rtlCol="0">
            <a:noAutofit/>
          </a:bodyPr>
          <a:lstStyle/>
          <a:p>
            <a:pPr>
              <a:spcAft>
                <a:spcPts val="525"/>
              </a:spcAft>
            </a:pPr>
            <a:r>
              <a:rPr lang="en-US" sz="2400" b="1">
                <a:solidFill>
                  <a:srgbClr val="007F83"/>
                </a:solidFill>
                <a:latin typeface="Arial" panose="020B0604020202020204" pitchFamily="34" charset="0"/>
              </a:rPr>
              <a:t>Try</a:t>
            </a:r>
          </a:p>
        </p:txBody>
      </p:sp>
      <p:sp>
        <p:nvSpPr>
          <p:cNvPr id="7" name="TextBox 6">
            <a:extLst>
              <a:ext uri="{FF2B5EF4-FFF2-40B4-BE49-F238E27FC236}">
                <a16:creationId xmlns:a16="http://schemas.microsoft.com/office/drawing/2014/main" id="{7E14D61F-E1E6-2F74-85E8-6D244BC11401}"/>
              </a:ext>
            </a:extLst>
          </p:cNvPr>
          <p:cNvSpPr txBox="1"/>
          <p:nvPr/>
        </p:nvSpPr>
        <p:spPr>
          <a:xfrm>
            <a:off x="3952875" y="2324100"/>
            <a:ext cx="7524750" cy="504825"/>
          </a:xfrm>
          <a:prstGeom prst="rect">
            <a:avLst/>
          </a:prstGeom>
          <a:noFill/>
        </p:spPr>
        <p:txBody>
          <a:bodyPr vert="horz" wrap="square" lIns="0" tIns="0" rIns="0" bIns="0" rtlCol="0">
            <a:noAutofit/>
          </a:bodyPr>
          <a:lstStyle/>
          <a:p>
            <a:pPr>
              <a:spcAft>
                <a:spcPts val="525"/>
              </a:spcAft>
            </a:pPr>
            <a:r>
              <a:rPr lang="en-US" sz="2175">
                <a:solidFill>
                  <a:srgbClr val="173B49"/>
                </a:solidFill>
                <a:latin typeface="Arial" panose="020B0604020202020204" pitchFamily="34" charset="0"/>
              </a:rPr>
              <a:t>Run a step or choose an answer.</a:t>
            </a:r>
          </a:p>
        </p:txBody>
      </p:sp>
      <p:sp>
        <p:nvSpPr>
          <p:cNvPr id="8" name="TextBox 7">
            <a:extLst>
              <a:ext uri="{FF2B5EF4-FFF2-40B4-BE49-F238E27FC236}">
                <a16:creationId xmlns:a16="http://schemas.microsoft.com/office/drawing/2014/main" id="{3676B12D-9204-914A-70E5-753A8562F7CF}"/>
              </a:ext>
            </a:extLst>
          </p:cNvPr>
          <p:cNvSpPr txBox="1"/>
          <p:nvPr/>
        </p:nvSpPr>
        <p:spPr>
          <a:xfrm>
            <a:off x="609600" y="3076574"/>
            <a:ext cx="609600" cy="438150"/>
          </a:xfrm>
          <a:prstGeom prst="rect">
            <a:avLst/>
          </a:prstGeom>
          <a:noFill/>
        </p:spPr>
        <p:txBody>
          <a:bodyPr vert="horz" wrap="square" lIns="0" tIns="0" rIns="0" bIns="0" rtlCol="0">
            <a:noAutofit/>
          </a:bodyPr>
          <a:lstStyle/>
          <a:p>
            <a:pPr>
              <a:spcAft>
                <a:spcPts val="525"/>
              </a:spcAft>
            </a:pPr>
            <a:r>
              <a:rPr lang="en-US" sz="2250" b="1">
                <a:solidFill>
                  <a:srgbClr val="D89E2B"/>
                </a:solidFill>
                <a:latin typeface="Arial" panose="020B0604020202020204" pitchFamily="34" charset="0"/>
              </a:rPr>
              <a:t>03</a:t>
            </a:r>
          </a:p>
        </p:txBody>
      </p:sp>
      <p:sp>
        <p:nvSpPr>
          <p:cNvPr id="9" name="TextBox 8">
            <a:extLst>
              <a:ext uri="{FF2B5EF4-FFF2-40B4-BE49-F238E27FC236}">
                <a16:creationId xmlns:a16="http://schemas.microsoft.com/office/drawing/2014/main" id="{E540B09E-F2BE-D47A-5E08-4D44B0CEF711}"/>
              </a:ext>
            </a:extLst>
          </p:cNvPr>
          <p:cNvSpPr txBox="1"/>
          <p:nvPr/>
        </p:nvSpPr>
        <p:spPr>
          <a:xfrm>
            <a:off x="1476375" y="3076575"/>
            <a:ext cx="2095500" cy="447675"/>
          </a:xfrm>
          <a:prstGeom prst="rect">
            <a:avLst/>
          </a:prstGeom>
          <a:noFill/>
        </p:spPr>
        <p:txBody>
          <a:bodyPr vert="horz" wrap="square" lIns="0" tIns="0" rIns="0" bIns="0" rtlCol="0">
            <a:noAutofit/>
          </a:bodyPr>
          <a:lstStyle/>
          <a:p>
            <a:pPr>
              <a:spcAft>
                <a:spcPts val="525"/>
              </a:spcAft>
            </a:pPr>
            <a:r>
              <a:rPr lang="en-US" sz="2400" b="1">
                <a:solidFill>
                  <a:srgbClr val="007F83"/>
                </a:solidFill>
                <a:latin typeface="Arial" panose="020B0604020202020204" pitchFamily="34" charset="0"/>
              </a:rPr>
              <a:t>Inspect</a:t>
            </a:r>
          </a:p>
        </p:txBody>
      </p:sp>
      <p:sp>
        <p:nvSpPr>
          <p:cNvPr id="10" name="TextBox 9">
            <a:extLst>
              <a:ext uri="{FF2B5EF4-FFF2-40B4-BE49-F238E27FC236}">
                <a16:creationId xmlns:a16="http://schemas.microsoft.com/office/drawing/2014/main" id="{F876B695-1DB9-9AF8-DDD6-4DB848D9E94C}"/>
              </a:ext>
            </a:extLst>
          </p:cNvPr>
          <p:cNvSpPr txBox="1"/>
          <p:nvPr/>
        </p:nvSpPr>
        <p:spPr>
          <a:xfrm>
            <a:off x="3952875" y="3076575"/>
            <a:ext cx="7524750" cy="504825"/>
          </a:xfrm>
          <a:prstGeom prst="rect">
            <a:avLst/>
          </a:prstGeom>
          <a:noFill/>
        </p:spPr>
        <p:txBody>
          <a:bodyPr vert="horz" wrap="square" lIns="0" tIns="0" rIns="0" bIns="0" rtlCol="0">
            <a:noAutofit/>
          </a:bodyPr>
          <a:lstStyle/>
          <a:p>
            <a:pPr>
              <a:spcAft>
                <a:spcPts val="525"/>
              </a:spcAft>
            </a:pPr>
            <a:r>
              <a:rPr lang="en-US" sz="2175">
                <a:solidFill>
                  <a:srgbClr val="173B49"/>
                </a:solidFill>
                <a:latin typeface="Arial" panose="020B0604020202020204" pitchFamily="34" charset="0"/>
              </a:rPr>
              <a:t>Compare the result with the data.</a:t>
            </a:r>
          </a:p>
        </p:txBody>
      </p:sp>
      <p:sp>
        <p:nvSpPr>
          <p:cNvPr id="11" name="TextBox 10">
            <a:extLst>
              <a:ext uri="{FF2B5EF4-FFF2-40B4-BE49-F238E27FC236}">
                <a16:creationId xmlns:a16="http://schemas.microsoft.com/office/drawing/2014/main" id="{2814FF60-7E8E-81D0-D191-294931B90B65}"/>
              </a:ext>
            </a:extLst>
          </p:cNvPr>
          <p:cNvSpPr txBox="1"/>
          <p:nvPr/>
        </p:nvSpPr>
        <p:spPr>
          <a:xfrm>
            <a:off x="609600" y="3829049"/>
            <a:ext cx="609600" cy="438150"/>
          </a:xfrm>
          <a:prstGeom prst="rect">
            <a:avLst/>
          </a:prstGeom>
          <a:noFill/>
        </p:spPr>
        <p:txBody>
          <a:bodyPr vert="horz" wrap="square" lIns="0" tIns="0" rIns="0" bIns="0" rtlCol="0">
            <a:noAutofit/>
          </a:bodyPr>
          <a:lstStyle/>
          <a:p>
            <a:pPr>
              <a:spcAft>
                <a:spcPts val="525"/>
              </a:spcAft>
            </a:pPr>
            <a:r>
              <a:rPr lang="en-US" sz="2250" b="1">
                <a:solidFill>
                  <a:srgbClr val="D89E2B"/>
                </a:solidFill>
                <a:latin typeface="Arial" panose="020B0604020202020204" pitchFamily="34" charset="0"/>
              </a:rPr>
              <a:t>04</a:t>
            </a:r>
          </a:p>
        </p:txBody>
      </p:sp>
      <p:sp>
        <p:nvSpPr>
          <p:cNvPr id="12" name="TextBox 11">
            <a:extLst>
              <a:ext uri="{FF2B5EF4-FFF2-40B4-BE49-F238E27FC236}">
                <a16:creationId xmlns:a16="http://schemas.microsoft.com/office/drawing/2014/main" id="{3EB07B48-C19E-C3D3-8B1C-306C100E8EAB}"/>
              </a:ext>
            </a:extLst>
          </p:cNvPr>
          <p:cNvSpPr txBox="1"/>
          <p:nvPr/>
        </p:nvSpPr>
        <p:spPr>
          <a:xfrm>
            <a:off x="1476375" y="3829050"/>
            <a:ext cx="2095500" cy="447675"/>
          </a:xfrm>
          <a:prstGeom prst="rect">
            <a:avLst/>
          </a:prstGeom>
          <a:noFill/>
        </p:spPr>
        <p:txBody>
          <a:bodyPr vert="horz" wrap="square" lIns="0" tIns="0" rIns="0" bIns="0" rtlCol="0">
            <a:noAutofit/>
          </a:bodyPr>
          <a:lstStyle/>
          <a:p>
            <a:pPr>
              <a:spcAft>
                <a:spcPts val="525"/>
              </a:spcAft>
            </a:pPr>
            <a:r>
              <a:rPr lang="en-US" sz="2400" b="1">
                <a:solidFill>
                  <a:srgbClr val="007F83"/>
                </a:solidFill>
                <a:latin typeface="Arial" panose="020B0604020202020204" pitchFamily="34" charset="0"/>
              </a:rPr>
              <a:t>Explain</a:t>
            </a:r>
          </a:p>
        </p:txBody>
      </p:sp>
      <p:sp>
        <p:nvSpPr>
          <p:cNvPr id="13" name="TextBox 12">
            <a:extLst>
              <a:ext uri="{FF2B5EF4-FFF2-40B4-BE49-F238E27FC236}">
                <a16:creationId xmlns:a16="http://schemas.microsoft.com/office/drawing/2014/main" id="{D6DB3A8F-20A8-9436-5D46-8D774117E408}"/>
              </a:ext>
            </a:extLst>
          </p:cNvPr>
          <p:cNvSpPr txBox="1"/>
          <p:nvPr/>
        </p:nvSpPr>
        <p:spPr>
          <a:xfrm>
            <a:off x="3952875" y="3829050"/>
            <a:ext cx="7524750" cy="504825"/>
          </a:xfrm>
          <a:prstGeom prst="rect">
            <a:avLst/>
          </a:prstGeom>
          <a:noFill/>
        </p:spPr>
        <p:txBody>
          <a:bodyPr vert="horz" wrap="square" lIns="0" tIns="0" rIns="0" bIns="0" rtlCol="0">
            <a:noAutofit/>
          </a:bodyPr>
          <a:lstStyle/>
          <a:p>
            <a:pPr>
              <a:spcAft>
                <a:spcPts val="525"/>
              </a:spcAft>
            </a:pPr>
            <a:r>
              <a:rPr lang="en-US" sz="2175">
                <a:solidFill>
                  <a:srgbClr val="173B49"/>
                </a:solidFill>
                <a:latin typeface="Arial" panose="020B0604020202020204" pitchFamily="34" charset="0"/>
              </a:rPr>
              <a:t>Describe the reasoning in your own words.</a:t>
            </a:r>
          </a:p>
        </p:txBody>
      </p:sp>
      <p:sp>
        <p:nvSpPr>
          <p:cNvPr id="14" name="TextBox 13">
            <a:extLst>
              <a:ext uri="{FF2B5EF4-FFF2-40B4-BE49-F238E27FC236}">
                <a16:creationId xmlns:a16="http://schemas.microsoft.com/office/drawing/2014/main" id="{092BCDC3-A830-346E-3FDF-1D396B33423D}"/>
              </a:ext>
            </a:extLst>
          </p:cNvPr>
          <p:cNvSpPr txBox="1"/>
          <p:nvPr/>
        </p:nvSpPr>
        <p:spPr>
          <a:xfrm>
            <a:off x="609600" y="4581524"/>
            <a:ext cx="609600" cy="438150"/>
          </a:xfrm>
          <a:prstGeom prst="rect">
            <a:avLst/>
          </a:prstGeom>
          <a:noFill/>
        </p:spPr>
        <p:txBody>
          <a:bodyPr vert="horz" wrap="square" lIns="0" tIns="0" rIns="0" bIns="0" rtlCol="0">
            <a:noAutofit/>
          </a:bodyPr>
          <a:lstStyle/>
          <a:p>
            <a:pPr>
              <a:spcAft>
                <a:spcPts val="525"/>
              </a:spcAft>
            </a:pPr>
            <a:r>
              <a:rPr lang="en-US" sz="2250" b="1">
                <a:solidFill>
                  <a:srgbClr val="D89E2B"/>
                </a:solidFill>
                <a:latin typeface="Arial" panose="020B0604020202020204" pitchFamily="34" charset="0"/>
              </a:rPr>
              <a:t>05</a:t>
            </a:r>
          </a:p>
        </p:txBody>
      </p:sp>
      <p:sp>
        <p:nvSpPr>
          <p:cNvPr id="15" name="TextBox 14">
            <a:extLst>
              <a:ext uri="{FF2B5EF4-FFF2-40B4-BE49-F238E27FC236}">
                <a16:creationId xmlns:a16="http://schemas.microsoft.com/office/drawing/2014/main" id="{6E1C46CA-F68E-A8D5-74A1-B2C12228442E}"/>
              </a:ext>
            </a:extLst>
          </p:cNvPr>
          <p:cNvSpPr txBox="1"/>
          <p:nvPr/>
        </p:nvSpPr>
        <p:spPr>
          <a:xfrm>
            <a:off x="1476375" y="4581525"/>
            <a:ext cx="2095500" cy="447675"/>
          </a:xfrm>
          <a:prstGeom prst="rect">
            <a:avLst/>
          </a:prstGeom>
          <a:noFill/>
        </p:spPr>
        <p:txBody>
          <a:bodyPr vert="horz" wrap="square" lIns="0" tIns="0" rIns="0" bIns="0" rtlCol="0">
            <a:noAutofit/>
          </a:bodyPr>
          <a:lstStyle/>
          <a:p>
            <a:pPr>
              <a:spcAft>
                <a:spcPts val="525"/>
              </a:spcAft>
            </a:pPr>
            <a:r>
              <a:rPr lang="en-US" sz="2400" b="1">
                <a:solidFill>
                  <a:srgbClr val="007F83"/>
                </a:solidFill>
                <a:latin typeface="Arial" panose="020B0604020202020204" pitchFamily="34" charset="0"/>
              </a:rPr>
              <a:t>Revise</a:t>
            </a:r>
          </a:p>
        </p:txBody>
      </p:sp>
      <p:sp>
        <p:nvSpPr>
          <p:cNvPr id="16" name="TextBox 15">
            <a:extLst>
              <a:ext uri="{FF2B5EF4-FFF2-40B4-BE49-F238E27FC236}">
                <a16:creationId xmlns:a16="http://schemas.microsoft.com/office/drawing/2014/main" id="{CF8ED0B9-5965-9856-744B-C94AC86944FD}"/>
              </a:ext>
            </a:extLst>
          </p:cNvPr>
          <p:cNvSpPr txBox="1"/>
          <p:nvPr/>
        </p:nvSpPr>
        <p:spPr>
          <a:xfrm>
            <a:off x="3952875" y="4581525"/>
            <a:ext cx="7524750" cy="504825"/>
          </a:xfrm>
          <a:prstGeom prst="rect">
            <a:avLst/>
          </a:prstGeom>
          <a:noFill/>
        </p:spPr>
        <p:txBody>
          <a:bodyPr vert="horz" wrap="square" lIns="0" tIns="0" rIns="0" bIns="0" rtlCol="0">
            <a:noAutofit/>
          </a:bodyPr>
          <a:lstStyle/>
          <a:p>
            <a:pPr>
              <a:spcAft>
                <a:spcPts val="525"/>
              </a:spcAft>
            </a:pPr>
            <a:r>
              <a:rPr lang="en-US" sz="2175">
                <a:solidFill>
                  <a:srgbClr val="173B49"/>
                </a:solidFill>
                <a:latin typeface="Arial" panose="020B0604020202020204" pitchFamily="34" charset="0"/>
              </a:rPr>
              <a:t>Use feedback to improve the answer.</a:t>
            </a:r>
          </a:p>
        </p:txBody>
      </p:sp>
      <p:sp>
        <p:nvSpPr>
          <p:cNvPr id="17" name="TextBox 16">
            <a:extLst>
              <a:ext uri="{FF2B5EF4-FFF2-40B4-BE49-F238E27FC236}">
                <a16:creationId xmlns:a16="http://schemas.microsoft.com/office/drawing/2014/main" id="{6B59F141-3226-682F-209F-1430B0483E21}"/>
              </a:ext>
            </a:extLst>
          </p:cNvPr>
          <p:cNvSpPr txBox="1"/>
          <p:nvPr/>
        </p:nvSpPr>
        <p:spPr>
          <a:xfrm>
            <a:off x="609600" y="5333999"/>
            <a:ext cx="609600" cy="438150"/>
          </a:xfrm>
          <a:prstGeom prst="rect">
            <a:avLst/>
          </a:prstGeom>
          <a:noFill/>
        </p:spPr>
        <p:txBody>
          <a:bodyPr vert="horz" wrap="square" lIns="0" tIns="0" rIns="0" bIns="0" rtlCol="0">
            <a:noAutofit/>
          </a:bodyPr>
          <a:lstStyle/>
          <a:p>
            <a:pPr>
              <a:spcAft>
                <a:spcPts val="525"/>
              </a:spcAft>
            </a:pPr>
            <a:r>
              <a:rPr lang="en-US" sz="2250" b="1">
                <a:solidFill>
                  <a:srgbClr val="D89E2B"/>
                </a:solidFill>
                <a:latin typeface="Arial" panose="020B0604020202020204" pitchFamily="34" charset="0"/>
              </a:rPr>
              <a:t>06</a:t>
            </a:r>
          </a:p>
        </p:txBody>
      </p:sp>
      <p:sp>
        <p:nvSpPr>
          <p:cNvPr id="18" name="TextBox 17">
            <a:extLst>
              <a:ext uri="{FF2B5EF4-FFF2-40B4-BE49-F238E27FC236}">
                <a16:creationId xmlns:a16="http://schemas.microsoft.com/office/drawing/2014/main" id="{9B45CC84-BAF6-3DD0-0670-5342FE58DA00}"/>
              </a:ext>
            </a:extLst>
          </p:cNvPr>
          <p:cNvSpPr txBox="1"/>
          <p:nvPr/>
        </p:nvSpPr>
        <p:spPr>
          <a:xfrm>
            <a:off x="1476375" y="5334000"/>
            <a:ext cx="2095500" cy="447675"/>
          </a:xfrm>
          <a:prstGeom prst="rect">
            <a:avLst/>
          </a:prstGeom>
          <a:noFill/>
        </p:spPr>
        <p:txBody>
          <a:bodyPr vert="horz" wrap="square" lIns="0" tIns="0" rIns="0" bIns="0" rtlCol="0">
            <a:noAutofit/>
          </a:bodyPr>
          <a:lstStyle/>
          <a:p>
            <a:pPr>
              <a:spcAft>
                <a:spcPts val="525"/>
              </a:spcAft>
            </a:pPr>
            <a:r>
              <a:rPr lang="en-US" sz="2400" b="1">
                <a:solidFill>
                  <a:srgbClr val="007F83"/>
                </a:solidFill>
                <a:latin typeface="Arial" panose="020B0604020202020204" pitchFamily="34" charset="0"/>
              </a:rPr>
              <a:t>Apply</a:t>
            </a:r>
          </a:p>
        </p:txBody>
      </p:sp>
      <p:sp>
        <p:nvSpPr>
          <p:cNvPr id="19" name="TextBox 18">
            <a:extLst>
              <a:ext uri="{FF2B5EF4-FFF2-40B4-BE49-F238E27FC236}">
                <a16:creationId xmlns:a16="http://schemas.microsoft.com/office/drawing/2014/main" id="{5AD1AE59-A7F1-CD3F-E2D0-A6A12110D423}"/>
              </a:ext>
            </a:extLst>
          </p:cNvPr>
          <p:cNvSpPr txBox="1"/>
          <p:nvPr/>
        </p:nvSpPr>
        <p:spPr>
          <a:xfrm>
            <a:off x="3952875" y="5334000"/>
            <a:ext cx="7524750" cy="504825"/>
          </a:xfrm>
          <a:prstGeom prst="rect">
            <a:avLst/>
          </a:prstGeom>
          <a:noFill/>
        </p:spPr>
        <p:txBody>
          <a:bodyPr vert="horz" wrap="square" lIns="0" tIns="0" rIns="0" bIns="0" rtlCol="0">
            <a:noAutofit/>
          </a:bodyPr>
          <a:lstStyle/>
          <a:p>
            <a:pPr>
              <a:spcAft>
                <a:spcPts val="525"/>
              </a:spcAft>
            </a:pPr>
            <a:r>
              <a:rPr lang="en-US" sz="2175">
                <a:solidFill>
                  <a:srgbClr val="173B49"/>
                </a:solidFill>
                <a:latin typeface="Arial" panose="020B0604020202020204" pitchFamily="34" charset="0"/>
              </a:rPr>
              <a:t>Work through a different example.</a:t>
            </a:r>
          </a:p>
        </p:txBody>
      </p:sp>
      <p:sp>
        <p:nvSpPr>
          <p:cNvPr id="20" name="TextBox 19">
            <a:extLst>
              <a:ext uri="{FF2B5EF4-FFF2-40B4-BE49-F238E27FC236}">
                <a16:creationId xmlns:a16="http://schemas.microsoft.com/office/drawing/2014/main" id="{CEC29B5A-A472-1872-C3BF-08E7E34A3A36}"/>
              </a:ext>
            </a:extLst>
          </p:cNvPr>
          <p:cNvSpPr txBox="1"/>
          <p:nvPr/>
        </p:nvSpPr>
        <p:spPr>
          <a:xfrm>
            <a:off x="609600" y="400050"/>
            <a:ext cx="10972800" cy="714375"/>
          </a:xfrm>
          <a:prstGeom prst="rect">
            <a:avLst/>
          </a:prstGeom>
          <a:noFill/>
        </p:spPr>
        <p:txBody>
          <a:bodyPr vert="horz" wrap="square" lIns="0" tIns="0" rIns="0" bIns="0" rtlCol="0">
            <a:noAutofit/>
          </a:bodyPr>
          <a:lstStyle/>
          <a:p>
            <a:pPr>
              <a:spcAft>
                <a:spcPts val="525"/>
              </a:spcAft>
            </a:pPr>
            <a:r>
              <a:rPr lang="en-US" sz="3300" b="1">
                <a:solidFill>
                  <a:srgbClr val="173B49"/>
                </a:solidFill>
                <a:latin typeface="Arial" panose="020B0604020202020204" pitchFamily="34" charset="0"/>
              </a:rPr>
              <a:t>Learning through a notebook</a:t>
            </a:r>
          </a:p>
        </p:txBody>
      </p:sp>
      <p:sp>
        <p:nvSpPr>
          <p:cNvPr id="21" name="Rectangle 20">
            <a:extLst>
              <a:ext uri="{FF2B5EF4-FFF2-40B4-BE49-F238E27FC236}">
                <a16:creationId xmlns:a16="http://schemas.microsoft.com/office/drawing/2014/main" id="{6FDA5ADB-806A-BC34-33B0-64AAA839B352}"/>
              </a:ext>
            </a:extLst>
          </p:cNvPr>
          <p:cNvSpPr/>
          <p:nvPr/>
        </p:nvSpPr>
        <p:spPr>
          <a:xfrm>
            <a:off x="609600" y="1200150"/>
            <a:ext cx="666750" cy="38100"/>
          </a:xfrm>
          <a:prstGeom prst="rect">
            <a:avLst/>
          </a:prstGeom>
          <a:solidFill>
            <a:srgbClr val="D89E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A12EEB59-50F2-67E1-6300-8D9E96C51511}"/>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52656E"/>
                </a:solidFill>
                <a:latin typeface="Arial" panose="020B0604020202020204" pitchFamily="34" charset="0"/>
              </a:rPr>
              <a:t>6</a:t>
            </a:r>
          </a:p>
        </p:txBody>
      </p:sp>
    </p:spTree>
    <p:extLst>
      <p:ext uri="{BB962C8B-B14F-4D97-AF65-F5344CB8AC3E}">
        <p14:creationId xmlns:p14="http://schemas.microsoft.com/office/powerpoint/2010/main" val="3977712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D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29E8BC-F417-541F-D481-38F47545C67C}"/>
              </a:ext>
            </a:extLst>
          </p:cNvPr>
          <p:cNvSpPr txBox="1"/>
          <p:nvPr/>
        </p:nvSpPr>
        <p:spPr>
          <a:xfrm>
            <a:off x="609600" y="1571624"/>
            <a:ext cx="10906125" cy="495300"/>
          </a:xfrm>
          <a:prstGeom prst="rect">
            <a:avLst/>
          </a:prstGeom>
          <a:noFill/>
        </p:spPr>
        <p:txBody>
          <a:bodyPr vert="horz" wrap="square" lIns="0" tIns="0" rIns="0" bIns="0" rtlCol="0">
            <a:noAutofit/>
          </a:bodyPr>
          <a:lstStyle/>
          <a:p>
            <a:pPr>
              <a:spcAft>
                <a:spcPts val="525"/>
              </a:spcAft>
            </a:pPr>
            <a:r>
              <a:rPr lang="en-US" sz="2400" b="1">
                <a:solidFill>
                  <a:srgbClr val="007F83"/>
                </a:solidFill>
                <a:latin typeface="Arial" panose="020B0604020202020204" pitchFamily="34" charset="0"/>
              </a:rPr>
              <a:t>Submit an answer and inspect the feedback.</a:t>
            </a:r>
          </a:p>
        </p:txBody>
      </p:sp>
      <p:pic>
        <p:nvPicPr>
          <p:cNvPr id="4" name="Picture 3" descr="Actual feedback for Table A identifies an incorrect classification and explains that each row describes one case.">
            <a:extLst>
              <a:ext uri="{FF2B5EF4-FFF2-40B4-BE49-F238E27FC236}">
                <a16:creationId xmlns:a16="http://schemas.microsoft.com/office/drawing/2014/main" id="{7DCC51E5-D90F-8E24-060F-AD0C5294AED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2762086"/>
            <a:ext cx="10953750" cy="1057603"/>
          </a:xfrm>
          <a:prstGeom prst="rect">
            <a:avLst/>
          </a:prstGeom>
        </p:spPr>
      </p:pic>
      <p:sp>
        <p:nvSpPr>
          <p:cNvPr id="5" name="TextBox 4">
            <a:extLst>
              <a:ext uri="{FF2B5EF4-FFF2-40B4-BE49-F238E27FC236}">
                <a16:creationId xmlns:a16="http://schemas.microsoft.com/office/drawing/2014/main" id="{84DFA69F-7D94-C248-074B-6BBFCA7F1A6A}"/>
              </a:ext>
            </a:extLst>
          </p:cNvPr>
          <p:cNvSpPr txBox="1"/>
          <p:nvPr/>
        </p:nvSpPr>
        <p:spPr>
          <a:xfrm>
            <a:off x="609600" y="4543425"/>
            <a:ext cx="10906125" cy="523875"/>
          </a:xfrm>
          <a:prstGeom prst="rect">
            <a:avLst/>
          </a:prstGeom>
          <a:noFill/>
        </p:spPr>
        <p:txBody>
          <a:bodyPr vert="horz" wrap="square" lIns="0" tIns="0" rIns="0" bIns="0" rtlCol="0">
            <a:noAutofit/>
          </a:bodyPr>
          <a:lstStyle/>
          <a:p>
            <a:pPr>
              <a:spcAft>
                <a:spcPts val="525"/>
              </a:spcAft>
            </a:pPr>
            <a:r>
              <a:rPr lang="en-US" sz="2325">
                <a:solidFill>
                  <a:srgbClr val="173B49"/>
                </a:solidFill>
                <a:latin typeface="Arial" panose="020B0604020202020204" pitchFamily="34" charset="0"/>
              </a:rPr>
              <a:t>Use authored hints to work through a difficulty.</a:t>
            </a:r>
          </a:p>
        </p:txBody>
      </p:sp>
      <p:sp>
        <p:nvSpPr>
          <p:cNvPr id="6" name="TextBox 5">
            <a:extLst>
              <a:ext uri="{FF2B5EF4-FFF2-40B4-BE49-F238E27FC236}">
                <a16:creationId xmlns:a16="http://schemas.microsoft.com/office/drawing/2014/main" id="{8ABF722C-0574-E185-8D74-5EE9721A4E2D}"/>
              </a:ext>
            </a:extLst>
          </p:cNvPr>
          <p:cNvSpPr txBox="1"/>
          <p:nvPr/>
        </p:nvSpPr>
        <p:spPr>
          <a:xfrm>
            <a:off x="609600" y="5381624"/>
            <a:ext cx="10858500" cy="952500"/>
          </a:xfrm>
          <a:prstGeom prst="rect">
            <a:avLst/>
          </a:prstGeom>
          <a:noFill/>
        </p:spPr>
        <p:txBody>
          <a:bodyPr vert="horz" wrap="square" lIns="0" tIns="0" rIns="0" bIns="0" rtlCol="0">
            <a:noAutofit/>
          </a:bodyPr>
          <a:lstStyle/>
          <a:p>
            <a:pPr>
              <a:spcAft>
                <a:spcPts val="525"/>
              </a:spcAft>
            </a:pPr>
            <a:r>
              <a:rPr lang="en-US" sz="2325">
                <a:solidFill>
                  <a:srgbClr val="007F83"/>
                </a:solidFill>
                <a:latin typeface="Arial" panose="020B0604020202020204" pitchFamily="34" charset="0"/>
              </a:rPr>
              <a:t>The Learning panel uses recorded results and help</a:t>
            </a:r>
          </a:p>
          <a:p>
            <a:pPr>
              <a:spcAft>
                <a:spcPts val="525"/>
              </a:spcAft>
            </a:pPr>
            <a:r>
              <a:rPr lang="en-US" sz="2325">
                <a:solidFill>
                  <a:srgbClr val="007F83"/>
                </a:solidFill>
                <a:latin typeface="Arial" panose="020B0604020202020204" pitchFamily="34" charset="0"/>
              </a:rPr>
              <a:t>to suggest what to try next.</a:t>
            </a:r>
          </a:p>
        </p:txBody>
      </p:sp>
      <p:sp>
        <p:nvSpPr>
          <p:cNvPr id="7" name="TextBox 6">
            <a:extLst>
              <a:ext uri="{FF2B5EF4-FFF2-40B4-BE49-F238E27FC236}">
                <a16:creationId xmlns:a16="http://schemas.microsoft.com/office/drawing/2014/main" id="{93FECF05-9A49-5314-5615-9C54BDCBA02D}"/>
              </a:ext>
            </a:extLst>
          </p:cNvPr>
          <p:cNvSpPr txBox="1"/>
          <p:nvPr/>
        </p:nvSpPr>
        <p:spPr>
          <a:xfrm>
            <a:off x="609600" y="400050"/>
            <a:ext cx="10972800" cy="714375"/>
          </a:xfrm>
          <a:prstGeom prst="rect">
            <a:avLst/>
          </a:prstGeom>
          <a:noFill/>
        </p:spPr>
        <p:txBody>
          <a:bodyPr vert="horz" wrap="square" lIns="0" tIns="0" rIns="0" bIns="0" rtlCol="0">
            <a:noAutofit/>
          </a:bodyPr>
          <a:lstStyle/>
          <a:p>
            <a:pPr>
              <a:spcAft>
                <a:spcPts val="525"/>
              </a:spcAft>
            </a:pPr>
            <a:r>
              <a:rPr lang="en-US" sz="3300" b="1">
                <a:solidFill>
                  <a:srgbClr val="173B49"/>
                </a:solidFill>
                <a:latin typeface="Arial" panose="020B0604020202020204" pitchFamily="34" charset="0"/>
              </a:rPr>
              <a:t>Adaptive learning support</a:t>
            </a:r>
          </a:p>
        </p:txBody>
      </p:sp>
      <p:sp>
        <p:nvSpPr>
          <p:cNvPr id="8" name="Rectangle 7">
            <a:extLst>
              <a:ext uri="{FF2B5EF4-FFF2-40B4-BE49-F238E27FC236}">
                <a16:creationId xmlns:a16="http://schemas.microsoft.com/office/drawing/2014/main" id="{048AACE7-7619-F3E9-5BAE-3CD7F485EB27}"/>
              </a:ext>
            </a:extLst>
          </p:cNvPr>
          <p:cNvSpPr/>
          <p:nvPr/>
        </p:nvSpPr>
        <p:spPr>
          <a:xfrm>
            <a:off x="609600" y="1200150"/>
            <a:ext cx="666750" cy="38100"/>
          </a:xfrm>
          <a:prstGeom prst="rect">
            <a:avLst/>
          </a:prstGeom>
          <a:solidFill>
            <a:srgbClr val="D89E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782BCDF-4098-8501-FF67-09A8E6DF7058}"/>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52656E"/>
                </a:solidFill>
                <a:latin typeface="Arial" panose="020B0604020202020204" pitchFamily="34" charset="0"/>
              </a:rPr>
              <a:t>7</a:t>
            </a:r>
          </a:p>
        </p:txBody>
      </p:sp>
    </p:spTree>
    <p:extLst>
      <p:ext uri="{BB962C8B-B14F-4D97-AF65-F5344CB8AC3E}">
        <p14:creationId xmlns:p14="http://schemas.microsoft.com/office/powerpoint/2010/main" val="211862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D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F252ED6-225F-1B6C-09D3-00EE17909B6E}"/>
              </a:ext>
            </a:extLst>
          </p:cNvPr>
          <p:cNvSpPr txBox="1"/>
          <p:nvPr/>
        </p:nvSpPr>
        <p:spPr>
          <a:xfrm>
            <a:off x="609600" y="1647825"/>
            <a:ext cx="3381375" cy="428625"/>
          </a:xfrm>
          <a:prstGeom prst="rect">
            <a:avLst/>
          </a:prstGeom>
          <a:noFill/>
        </p:spPr>
        <p:txBody>
          <a:bodyPr vert="horz" wrap="square" lIns="0" tIns="0" rIns="0" bIns="0" rtlCol="0">
            <a:noAutofit/>
          </a:bodyPr>
          <a:lstStyle/>
          <a:p>
            <a:pPr>
              <a:spcAft>
                <a:spcPts val="525"/>
              </a:spcAft>
            </a:pPr>
            <a:r>
              <a:rPr lang="en-US" sz="2175" b="1">
                <a:solidFill>
                  <a:srgbClr val="007F83"/>
                </a:solidFill>
                <a:latin typeface="Arial" panose="020B0604020202020204" pitchFamily="34" charset="0"/>
              </a:rPr>
              <a:t>Suggested activities</a:t>
            </a:r>
          </a:p>
        </p:txBody>
      </p:sp>
      <p:sp>
        <p:nvSpPr>
          <p:cNvPr id="3" name="TextBox 2">
            <a:extLst>
              <a:ext uri="{FF2B5EF4-FFF2-40B4-BE49-F238E27FC236}">
                <a16:creationId xmlns:a16="http://schemas.microsoft.com/office/drawing/2014/main" id="{3C7EC77D-E11C-C96D-1CE1-DDB6F8FE726C}"/>
              </a:ext>
            </a:extLst>
          </p:cNvPr>
          <p:cNvSpPr txBox="1"/>
          <p:nvPr/>
        </p:nvSpPr>
        <p:spPr>
          <a:xfrm>
            <a:off x="4667250" y="1647825"/>
            <a:ext cx="3143250" cy="428625"/>
          </a:xfrm>
          <a:prstGeom prst="rect">
            <a:avLst/>
          </a:prstGeom>
          <a:noFill/>
        </p:spPr>
        <p:txBody>
          <a:bodyPr vert="horz" wrap="square" lIns="0" tIns="0" rIns="0" bIns="0" rtlCol="0">
            <a:noAutofit/>
          </a:bodyPr>
          <a:lstStyle/>
          <a:p>
            <a:pPr>
              <a:spcAft>
                <a:spcPts val="525"/>
              </a:spcAft>
            </a:pPr>
            <a:r>
              <a:rPr lang="en-US" sz="2175" b="1">
                <a:solidFill>
                  <a:srgbClr val="007F83"/>
                </a:solidFill>
                <a:latin typeface="Arial" panose="020B0604020202020204" pitchFamily="34" charset="0"/>
              </a:rPr>
              <a:t>Current exercise</a:t>
            </a:r>
          </a:p>
        </p:txBody>
      </p:sp>
      <p:sp>
        <p:nvSpPr>
          <p:cNvPr id="4" name="TextBox 3">
            <a:extLst>
              <a:ext uri="{FF2B5EF4-FFF2-40B4-BE49-F238E27FC236}">
                <a16:creationId xmlns:a16="http://schemas.microsoft.com/office/drawing/2014/main" id="{63BF1689-786F-0998-2EB6-3EBB7FB7AB6D}"/>
              </a:ext>
            </a:extLst>
          </p:cNvPr>
          <p:cNvSpPr txBox="1"/>
          <p:nvPr/>
        </p:nvSpPr>
        <p:spPr>
          <a:xfrm>
            <a:off x="8543925" y="1647825"/>
            <a:ext cx="3048000" cy="428625"/>
          </a:xfrm>
          <a:prstGeom prst="rect">
            <a:avLst/>
          </a:prstGeom>
          <a:noFill/>
        </p:spPr>
        <p:txBody>
          <a:bodyPr vert="horz" wrap="square" lIns="0" tIns="0" rIns="0" bIns="0" rtlCol="0">
            <a:noAutofit/>
          </a:bodyPr>
          <a:lstStyle/>
          <a:p>
            <a:pPr>
              <a:spcAft>
                <a:spcPts val="525"/>
              </a:spcAft>
            </a:pPr>
            <a:r>
              <a:rPr lang="en-US" sz="2175" b="1">
                <a:solidFill>
                  <a:srgbClr val="007F83"/>
                </a:solidFill>
                <a:latin typeface="Arial" panose="020B0604020202020204" pitchFamily="34" charset="0"/>
              </a:rPr>
              <a:t>Recorded progress</a:t>
            </a:r>
          </a:p>
        </p:txBody>
      </p:sp>
      <p:pic>
        <p:nvPicPr>
          <p:cNvPr id="6" name="Picture 5" descr="One recommendation in Suggested next, with its reason and Open control.">
            <a:extLst>
              <a:ext uri="{FF2B5EF4-FFF2-40B4-BE49-F238E27FC236}">
                <a16:creationId xmlns:a16="http://schemas.microsoft.com/office/drawing/2014/main" id="{9ABACE32-6E4E-97DD-904E-7F5F43C523F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2899491"/>
            <a:ext cx="3381375" cy="1306667"/>
          </a:xfrm>
          <a:prstGeom prst="rect">
            <a:avLst/>
          </a:prstGeom>
        </p:spPr>
      </p:pic>
      <p:pic>
        <p:nvPicPr>
          <p:cNvPr id="8" name="Picture 7" descr="This exercise names the classification task and its different-case progress.">
            <a:extLst>
              <a:ext uri="{FF2B5EF4-FFF2-40B4-BE49-F238E27FC236}">
                <a16:creationId xmlns:a16="http://schemas.microsoft.com/office/drawing/2014/main" id="{8EAE328F-DE78-D22B-F6CF-E53E58FE762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667250" y="2500439"/>
            <a:ext cx="3143250" cy="2104772"/>
          </a:xfrm>
          <a:prstGeom prst="rect">
            <a:avLst/>
          </a:prstGeom>
        </p:spPr>
      </p:pic>
      <p:pic>
        <p:nvPicPr>
          <p:cNvPr id="10" name="Picture 9" descr="One task in the Progress list, currently not assessed.">
            <a:extLst>
              <a:ext uri="{FF2B5EF4-FFF2-40B4-BE49-F238E27FC236}">
                <a16:creationId xmlns:a16="http://schemas.microsoft.com/office/drawing/2014/main" id="{BE64E706-FCD5-BB49-9036-9EC9E418D2B1}"/>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543925" y="3139232"/>
            <a:ext cx="3048000" cy="827186"/>
          </a:xfrm>
          <a:prstGeom prst="rect">
            <a:avLst/>
          </a:prstGeom>
        </p:spPr>
      </p:pic>
      <p:sp>
        <p:nvSpPr>
          <p:cNvPr id="11" name="TextBox 10">
            <a:extLst>
              <a:ext uri="{FF2B5EF4-FFF2-40B4-BE49-F238E27FC236}">
                <a16:creationId xmlns:a16="http://schemas.microsoft.com/office/drawing/2014/main" id="{A8B00378-EACC-2017-FA1D-2E0799EBA3A7}"/>
              </a:ext>
            </a:extLst>
          </p:cNvPr>
          <p:cNvSpPr txBox="1"/>
          <p:nvPr/>
        </p:nvSpPr>
        <p:spPr>
          <a:xfrm>
            <a:off x="609600" y="4991099"/>
            <a:ext cx="3381375" cy="685800"/>
          </a:xfrm>
          <a:prstGeom prst="rect">
            <a:avLst/>
          </a:prstGeom>
          <a:noFill/>
        </p:spPr>
        <p:txBody>
          <a:bodyPr vert="horz" wrap="square" lIns="0" tIns="0" rIns="0" bIns="0" rtlCol="0">
            <a:noAutofit/>
          </a:bodyPr>
          <a:lstStyle/>
          <a:p>
            <a:pPr>
              <a:spcAft>
                <a:spcPts val="525"/>
              </a:spcAft>
            </a:pPr>
            <a:r>
              <a:rPr lang="en-US" sz="1875">
                <a:solidFill>
                  <a:srgbClr val="173B49"/>
                </a:solidFill>
                <a:latin typeface="Arial" panose="020B0604020202020204" pitchFamily="34" charset="0"/>
              </a:rPr>
              <a:t>Open a recommended</a:t>
            </a:r>
          </a:p>
          <a:p>
            <a:pPr>
              <a:spcAft>
                <a:spcPts val="525"/>
              </a:spcAft>
            </a:pPr>
            <a:r>
              <a:rPr lang="en-US" sz="1875">
                <a:solidFill>
                  <a:srgbClr val="173B49"/>
                </a:solidFill>
                <a:latin typeface="Arial" panose="020B0604020202020204" pitchFamily="34" charset="0"/>
              </a:rPr>
              <a:t>activity.</a:t>
            </a:r>
          </a:p>
        </p:txBody>
      </p:sp>
      <p:sp>
        <p:nvSpPr>
          <p:cNvPr id="12" name="TextBox 11">
            <a:extLst>
              <a:ext uri="{FF2B5EF4-FFF2-40B4-BE49-F238E27FC236}">
                <a16:creationId xmlns:a16="http://schemas.microsoft.com/office/drawing/2014/main" id="{7017431D-69B7-456E-C549-FDC10B6511EF}"/>
              </a:ext>
            </a:extLst>
          </p:cNvPr>
          <p:cNvSpPr txBox="1"/>
          <p:nvPr/>
        </p:nvSpPr>
        <p:spPr>
          <a:xfrm>
            <a:off x="4667250" y="4991099"/>
            <a:ext cx="3143250" cy="685800"/>
          </a:xfrm>
          <a:prstGeom prst="rect">
            <a:avLst/>
          </a:prstGeom>
          <a:noFill/>
        </p:spPr>
        <p:txBody>
          <a:bodyPr vert="horz" wrap="square" lIns="0" tIns="0" rIns="0" bIns="0" rtlCol="0">
            <a:noAutofit/>
          </a:bodyPr>
          <a:lstStyle/>
          <a:p>
            <a:pPr>
              <a:spcAft>
                <a:spcPts val="525"/>
              </a:spcAft>
            </a:pPr>
            <a:r>
              <a:rPr lang="en-US" sz="1875">
                <a:solidFill>
                  <a:srgbClr val="173B49"/>
                </a:solidFill>
                <a:latin typeface="Arial" panose="020B0604020202020204" pitchFamily="34" charset="0"/>
              </a:rPr>
              <a:t>See support for the</a:t>
            </a:r>
          </a:p>
          <a:p>
            <a:pPr>
              <a:spcAft>
                <a:spcPts val="525"/>
              </a:spcAft>
            </a:pPr>
            <a:r>
              <a:rPr lang="en-US" sz="1875">
                <a:solidFill>
                  <a:srgbClr val="173B49"/>
                </a:solidFill>
                <a:latin typeface="Arial" panose="020B0604020202020204" pitchFamily="34" charset="0"/>
              </a:rPr>
              <a:t>current task.</a:t>
            </a:r>
          </a:p>
        </p:txBody>
      </p:sp>
      <p:sp>
        <p:nvSpPr>
          <p:cNvPr id="13" name="TextBox 12">
            <a:extLst>
              <a:ext uri="{FF2B5EF4-FFF2-40B4-BE49-F238E27FC236}">
                <a16:creationId xmlns:a16="http://schemas.microsoft.com/office/drawing/2014/main" id="{740F041B-54DB-BF68-6A93-057208332FA4}"/>
              </a:ext>
            </a:extLst>
          </p:cNvPr>
          <p:cNvSpPr txBox="1"/>
          <p:nvPr/>
        </p:nvSpPr>
        <p:spPr>
          <a:xfrm>
            <a:off x="8543925" y="4991099"/>
            <a:ext cx="3048000" cy="685800"/>
          </a:xfrm>
          <a:prstGeom prst="rect">
            <a:avLst/>
          </a:prstGeom>
          <a:noFill/>
        </p:spPr>
        <p:txBody>
          <a:bodyPr vert="horz" wrap="square" lIns="0" tIns="0" rIns="0" bIns="0" rtlCol="0">
            <a:noAutofit/>
          </a:bodyPr>
          <a:lstStyle/>
          <a:p>
            <a:pPr>
              <a:spcAft>
                <a:spcPts val="525"/>
              </a:spcAft>
            </a:pPr>
            <a:r>
              <a:rPr lang="en-US" sz="1875">
                <a:solidFill>
                  <a:srgbClr val="173B49"/>
                </a:solidFill>
                <a:latin typeface="Arial" panose="020B0604020202020204" pitchFamily="34" charset="0"/>
              </a:rPr>
              <a:t>Review progress on</a:t>
            </a:r>
          </a:p>
          <a:p>
            <a:pPr>
              <a:spcAft>
                <a:spcPts val="525"/>
              </a:spcAft>
            </a:pPr>
            <a:r>
              <a:rPr lang="en-US" sz="1875">
                <a:solidFill>
                  <a:srgbClr val="173B49"/>
                </a:solidFill>
                <a:latin typeface="Arial" panose="020B0604020202020204" pitchFamily="34" charset="0"/>
              </a:rPr>
              <a:t>course tasks.</a:t>
            </a:r>
          </a:p>
        </p:txBody>
      </p:sp>
      <p:sp>
        <p:nvSpPr>
          <p:cNvPr id="14" name="TextBox 13">
            <a:extLst>
              <a:ext uri="{FF2B5EF4-FFF2-40B4-BE49-F238E27FC236}">
                <a16:creationId xmlns:a16="http://schemas.microsoft.com/office/drawing/2014/main" id="{00D5428B-EAD7-E227-E04C-F7FACF847328}"/>
              </a:ext>
            </a:extLst>
          </p:cNvPr>
          <p:cNvSpPr txBox="1"/>
          <p:nvPr/>
        </p:nvSpPr>
        <p:spPr>
          <a:xfrm>
            <a:off x="609600" y="5857875"/>
            <a:ext cx="10953750" cy="523875"/>
          </a:xfrm>
          <a:prstGeom prst="rect">
            <a:avLst/>
          </a:prstGeom>
          <a:noFill/>
        </p:spPr>
        <p:txBody>
          <a:bodyPr vert="horz" wrap="square" lIns="0" tIns="0" rIns="0" bIns="0" rtlCol="0">
            <a:noAutofit/>
          </a:bodyPr>
          <a:lstStyle/>
          <a:p>
            <a:pPr>
              <a:spcAft>
                <a:spcPts val="525"/>
              </a:spcAft>
            </a:pPr>
            <a:r>
              <a:rPr lang="en-US" sz="2175">
                <a:solidFill>
                  <a:srgbClr val="173B49"/>
                </a:solidFill>
                <a:latin typeface="Arial" panose="020B0604020202020204" pitchFamily="34" charset="0"/>
              </a:rPr>
              <a:t>Suggestions reflect your recorded attempts and help used.</a:t>
            </a:r>
          </a:p>
        </p:txBody>
      </p:sp>
      <p:sp>
        <p:nvSpPr>
          <p:cNvPr id="15" name="TextBox 14">
            <a:extLst>
              <a:ext uri="{FF2B5EF4-FFF2-40B4-BE49-F238E27FC236}">
                <a16:creationId xmlns:a16="http://schemas.microsoft.com/office/drawing/2014/main" id="{DBDBB666-913B-1DF0-B352-6B9AC95E2B1C}"/>
              </a:ext>
            </a:extLst>
          </p:cNvPr>
          <p:cNvSpPr txBox="1"/>
          <p:nvPr/>
        </p:nvSpPr>
        <p:spPr>
          <a:xfrm>
            <a:off x="609600" y="400050"/>
            <a:ext cx="10972800" cy="714375"/>
          </a:xfrm>
          <a:prstGeom prst="rect">
            <a:avLst/>
          </a:prstGeom>
          <a:noFill/>
        </p:spPr>
        <p:txBody>
          <a:bodyPr vert="horz" wrap="square" lIns="0" tIns="0" rIns="0" bIns="0" rtlCol="0">
            <a:noAutofit/>
          </a:bodyPr>
          <a:lstStyle/>
          <a:p>
            <a:pPr>
              <a:spcAft>
                <a:spcPts val="525"/>
              </a:spcAft>
            </a:pPr>
            <a:r>
              <a:rPr lang="en-US" sz="3300" b="1">
                <a:solidFill>
                  <a:srgbClr val="173B49"/>
                </a:solidFill>
                <a:latin typeface="Arial" panose="020B0604020202020204" pitchFamily="34" charset="0"/>
              </a:rPr>
              <a:t>The Learning panel</a:t>
            </a:r>
          </a:p>
        </p:txBody>
      </p:sp>
      <p:sp>
        <p:nvSpPr>
          <p:cNvPr id="16" name="Rectangle 15">
            <a:extLst>
              <a:ext uri="{FF2B5EF4-FFF2-40B4-BE49-F238E27FC236}">
                <a16:creationId xmlns:a16="http://schemas.microsoft.com/office/drawing/2014/main" id="{907A67E4-A486-C35A-2678-316C974598F1}"/>
              </a:ext>
            </a:extLst>
          </p:cNvPr>
          <p:cNvSpPr/>
          <p:nvPr/>
        </p:nvSpPr>
        <p:spPr>
          <a:xfrm>
            <a:off x="609600" y="1200150"/>
            <a:ext cx="666750" cy="38100"/>
          </a:xfrm>
          <a:prstGeom prst="rect">
            <a:avLst/>
          </a:prstGeom>
          <a:solidFill>
            <a:srgbClr val="D89E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395BFE09-428D-DA47-6263-5C028807A2AB}"/>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52656E"/>
                </a:solidFill>
                <a:latin typeface="Arial" panose="020B0604020202020204" pitchFamily="34" charset="0"/>
              </a:rPr>
              <a:t>8</a:t>
            </a:r>
          </a:p>
        </p:txBody>
      </p:sp>
    </p:spTree>
    <p:extLst>
      <p:ext uri="{BB962C8B-B14F-4D97-AF65-F5344CB8AC3E}">
        <p14:creationId xmlns:p14="http://schemas.microsoft.com/office/powerpoint/2010/main" val="1097587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D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CD33A6-4CED-CD59-36A0-7E930346DF53}"/>
              </a:ext>
            </a:extLst>
          </p:cNvPr>
          <p:cNvSpPr txBox="1"/>
          <p:nvPr/>
        </p:nvSpPr>
        <p:spPr>
          <a:xfrm>
            <a:off x="609600" y="1647824"/>
            <a:ext cx="4953000" cy="457200"/>
          </a:xfrm>
          <a:prstGeom prst="rect">
            <a:avLst/>
          </a:prstGeom>
          <a:noFill/>
        </p:spPr>
        <p:txBody>
          <a:bodyPr vert="horz" wrap="square" lIns="0" tIns="0" rIns="0" bIns="0" rtlCol="0">
            <a:noAutofit/>
          </a:bodyPr>
          <a:lstStyle/>
          <a:p>
            <a:pPr>
              <a:spcAft>
                <a:spcPts val="525"/>
              </a:spcAft>
            </a:pPr>
            <a:r>
              <a:rPr lang="en-US" sz="2700" b="1">
                <a:solidFill>
                  <a:srgbClr val="007F83"/>
                </a:solidFill>
                <a:latin typeface="Arial" panose="020B0604020202020204" pitchFamily="34" charset="0"/>
              </a:rPr>
              <a:t>Practice</a:t>
            </a:r>
          </a:p>
        </p:txBody>
      </p:sp>
      <p:sp>
        <p:nvSpPr>
          <p:cNvPr id="3" name="TextBox 2">
            <a:extLst>
              <a:ext uri="{FF2B5EF4-FFF2-40B4-BE49-F238E27FC236}">
                <a16:creationId xmlns:a16="http://schemas.microsoft.com/office/drawing/2014/main" id="{0BB43621-CBCF-EFBB-E40B-DA889F0BEA63}"/>
              </a:ext>
            </a:extLst>
          </p:cNvPr>
          <p:cNvSpPr txBox="1"/>
          <p:nvPr/>
        </p:nvSpPr>
        <p:spPr>
          <a:xfrm>
            <a:off x="609600" y="2295524"/>
            <a:ext cx="4953000" cy="1047750"/>
          </a:xfrm>
          <a:prstGeom prst="rect">
            <a:avLst/>
          </a:prstGeom>
          <a:noFill/>
        </p:spPr>
        <p:txBody>
          <a:bodyPr vert="horz" wrap="square" lIns="0" tIns="0" rIns="0" bIns="0" rtlCol="0">
            <a:noAutofit/>
          </a:bodyPr>
          <a:lstStyle/>
          <a:p>
            <a:pPr>
              <a:spcAft>
                <a:spcPts val="525"/>
              </a:spcAft>
            </a:pPr>
            <a:r>
              <a:rPr lang="en-US" sz="2325">
                <a:solidFill>
                  <a:srgbClr val="173B49"/>
                </a:solidFill>
                <a:latin typeface="Arial" panose="020B0604020202020204" pitchFamily="34" charset="0"/>
              </a:rPr>
              <a:t>Use feedback and hints.</a:t>
            </a:r>
          </a:p>
          <a:p>
            <a:pPr>
              <a:spcAft>
                <a:spcPts val="525"/>
              </a:spcAft>
            </a:pPr>
            <a:r>
              <a:rPr lang="en-US" sz="2325">
                <a:solidFill>
                  <a:srgbClr val="173B49"/>
                </a:solidFill>
                <a:latin typeface="Arial" panose="020B0604020202020204" pitchFamily="34" charset="0"/>
              </a:rPr>
              <a:t>Revise your classifications.</a:t>
            </a:r>
          </a:p>
        </p:txBody>
      </p:sp>
      <p:pic>
        <p:nvPicPr>
          <p:cNvPr id="5" name="Picture 4" descr="Actual progress label: Practice completed with assistance.">
            <a:extLst>
              <a:ext uri="{FF2B5EF4-FFF2-40B4-BE49-F238E27FC236}">
                <a16:creationId xmlns:a16="http://schemas.microsoft.com/office/drawing/2014/main" id="{5325CA5E-ADF3-6CE9-9E9C-4392883C026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3697344"/>
            <a:ext cx="4953000" cy="1358788"/>
          </a:xfrm>
          <a:prstGeom prst="rect">
            <a:avLst/>
          </a:prstGeom>
        </p:spPr>
      </p:pic>
      <p:sp>
        <p:nvSpPr>
          <p:cNvPr id="6" name="TextBox 5">
            <a:extLst>
              <a:ext uri="{FF2B5EF4-FFF2-40B4-BE49-F238E27FC236}">
                <a16:creationId xmlns:a16="http://schemas.microsoft.com/office/drawing/2014/main" id="{B7E73632-F265-3AA6-1B96-C6448DE884B4}"/>
              </a:ext>
            </a:extLst>
          </p:cNvPr>
          <p:cNvSpPr txBox="1"/>
          <p:nvPr/>
        </p:nvSpPr>
        <p:spPr>
          <a:xfrm>
            <a:off x="6572250" y="1647824"/>
            <a:ext cx="4953000" cy="457200"/>
          </a:xfrm>
          <a:prstGeom prst="rect">
            <a:avLst/>
          </a:prstGeom>
          <a:noFill/>
        </p:spPr>
        <p:txBody>
          <a:bodyPr vert="horz" wrap="square" lIns="0" tIns="0" rIns="0" bIns="0" rtlCol="0">
            <a:noAutofit/>
          </a:bodyPr>
          <a:lstStyle/>
          <a:p>
            <a:pPr>
              <a:spcAft>
                <a:spcPts val="525"/>
              </a:spcAft>
            </a:pPr>
            <a:r>
              <a:rPr lang="en-US" sz="2700" b="1">
                <a:solidFill>
                  <a:srgbClr val="007F83"/>
                </a:solidFill>
                <a:latin typeface="Arial" panose="020B0604020202020204" pitchFamily="34" charset="0"/>
              </a:rPr>
              <a:t>A different case</a:t>
            </a:r>
          </a:p>
        </p:txBody>
      </p:sp>
      <p:sp>
        <p:nvSpPr>
          <p:cNvPr id="7" name="TextBox 6">
            <a:extLst>
              <a:ext uri="{FF2B5EF4-FFF2-40B4-BE49-F238E27FC236}">
                <a16:creationId xmlns:a16="http://schemas.microsoft.com/office/drawing/2014/main" id="{7A373AA7-ADEB-6502-BAA8-2DCB277C7CBD}"/>
              </a:ext>
            </a:extLst>
          </p:cNvPr>
          <p:cNvSpPr txBox="1"/>
          <p:nvPr/>
        </p:nvSpPr>
        <p:spPr>
          <a:xfrm>
            <a:off x="6572250" y="2295524"/>
            <a:ext cx="4953000" cy="1047750"/>
          </a:xfrm>
          <a:prstGeom prst="rect">
            <a:avLst/>
          </a:prstGeom>
          <a:noFill/>
        </p:spPr>
        <p:txBody>
          <a:bodyPr vert="horz" wrap="square" lIns="0" tIns="0" rIns="0" bIns="0" rtlCol="0">
            <a:noAutofit/>
          </a:bodyPr>
          <a:lstStyle/>
          <a:p>
            <a:pPr>
              <a:spcAft>
                <a:spcPts val="525"/>
              </a:spcAft>
            </a:pPr>
            <a:r>
              <a:rPr lang="en-US" sz="2325">
                <a:solidFill>
                  <a:srgbClr val="173B49"/>
                </a:solidFill>
                <a:latin typeface="Arial" panose="020B0604020202020204" pitchFamily="34" charset="0"/>
              </a:rPr>
              <a:t>Apply the same reasoning</a:t>
            </a:r>
          </a:p>
          <a:p>
            <a:pPr>
              <a:spcAft>
                <a:spcPts val="525"/>
              </a:spcAft>
            </a:pPr>
            <a:r>
              <a:rPr lang="en-US" sz="2325">
                <a:solidFill>
                  <a:srgbClr val="173B49"/>
                </a:solidFill>
                <a:latin typeface="Arial" panose="020B0604020202020204" pitchFamily="34" charset="0"/>
              </a:rPr>
              <a:t>to unfamiliar tables.</a:t>
            </a:r>
          </a:p>
        </p:txBody>
      </p:sp>
      <p:pic>
        <p:nvPicPr>
          <p:cNvPr id="9" name="Picture 8" descr="Actual progress label: Demonstrated on a different case.">
            <a:extLst>
              <a:ext uri="{FF2B5EF4-FFF2-40B4-BE49-F238E27FC236}">
                <a16:creationId xmlns:a16="http://schemas.microsoft.com/office/drawing/2014/main" id="{3C81EB9B-A509-BACC-512C-CA02824B7C6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572250" y="3697344"/>
            <a:ext cx="4953000" cy="1358788"/>
          </a:xfrm>
          <a:prstGeom prst="rect">
            <a:avLst/>
          </a:prstGeom>
        </p:spPr>
      </p:pic>
      <p:sp>
        <p:nvSpPr>
          <p:cNvPr id="10" name="TextBox 9">
            <a:extLst>
              <a:ext uri="{FF2B5EF4-FFF2-40B4-BE49-F238E27FC236}">
                <a16:creationId xmlns:a16="http://schemas.microsoft.com/office/drawing/2014/main" id="{891CDEED-0785-273E-B549-346A8325062A}"/>
              </a:ext>
            </a:extLst>
          </p:cNvPr>
          <p:cNvSpPr txBox="1"/>
          <p:nvPr/>
        </p:nvSpPr>
        <p:spPr>
          <a:xfrm>
            <a:off x="609600" y="5705474"/>
            <a:ext cx="10906125" cy="571500"/>
          </a:xfrm>
          <a:prstGeom prst="rect">
            <a:avLst/>
          </a:prstGeom>
          <a:noFill/>
        </p:spPr>
        <p:txBody>
          <a:bodyPr vert="horz" wrap="square" lIns="0" tIns="0" rIns="0" bIns="0" rtlCol="0">
            <a:noAutofit/>
          </a:bodyPr>
          <a:lstStyle/>
          <a:p>
            <a:pPr>
              <a:spcAft>
                <a:spcPts val="525"/>
              </a:spcAft>
            </a:pPr>
            <a:r>
              <a:rPr lang="en-US" sz="2100">
                <a:solidFill>
                  <a:srgbClr val="52656E"/>
                </a:solidFill>
                <a:latin typeface="Arial" panose="020B0604020202020204" pitchFamily="34" charset="0"/>
              </a:rPr>
              <a:t>These labels describe performance on this classification task.</a:t>
            </a:r>
          </a:p>
        </p:txBody>
      </p:sp>
      <p:sp>
        <p:nvSpPr>
          <p:cNvPr id="11" name="TextBox 10">
            <a:extLst>
              <a:ext uri="{FF2B5EF4-FFF2-40B4-BE49-F238E27FC236}">
                <a16:creationId xmlns:a16="http://schemas.microsoft.com/office/drawing/2014/main" id="{CCC40DB7-58B0-A72D-D469-1DEBD5A9AE86}"/>
              </a:ext>
            </a:extLst>
          </p:cNvPr>
          <p:cNvSpPr txBox="1"/>
          <p:nvPr/>
        </p:nvSpPr>
        <p:spPr>
          <a:xfrm>
            <a:off x="609600" y="400050"/>
            <a:ext cx="10972800" cy="714375"/>
          </a:xfrm>
          <a:prstGeom prst="rect">
            <a:avLst/>
          </a:prstGeom>
          <a:noFill/>
        </p:spPr>
        <p:txBody>
          <a:bodyPr vert="horz" wrap="square" lIns="0" tIns="0" rIns="0" bIns="0" rtlCol="0">
            <a:noAutofit/>
          </a:bodyPr>
          <a:lstStyle/>
          <a:p>
            <a:pPr>
              <a:spcAft>
                <a:spcPts val="525"/>
              </a:spcAft>
            </a:pPr>
            <a:r>
              <a:rPr lang="en-US" sz="3300" b="1">
                <a:solidFill>
                  <a:srgbClr val="173B49"/>
                </a:solidFill>
                <a:latin typeface="Arial" panose="020B0604020202020204" pitchFamily="34" charset="0"/>
              </a:rPr>
              <a:t>Practice and a different case</a:t>
            </a:r>
          </a:p>
        </p:txBody>
      </p:sp>
      <p:sp>
        <p:nvSpPr>
          <p:cNvPr id="12" name="Rectangle 11">
            <a:extLst>
              <a:ext uri="{FF2B5EF4-FFF2-40B4-BE49-F238E27FC236}">
                <a16:creationId xmlns:a16="http://schemas.microsoft.com/office/drawing/2014/main" id="{62870829-62E1-FF95-1369-70C9CA73F439}"/>
              </a:ext>
            </a:extLst>
          </p:cNvPr>
          <p:cNvSpPr/>
          <p:nvPr/>
        </p:nvSpPr>
        <p:spPr>
          <a:xfrm>
            <a:off x="609600" y="1200150"/>
            <a:ext cx="666750" cy="38100"/>
          </a:xfrm>
          <a:prstGeom prst="rect">
            <a:avLst/>
          </a:prstGeom>
          <a:solidFill>
            <a:srgbClr val="D89E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CA143232-8271-ACC9-4B23-0F04005697AF}"/>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52656E"/>
                </a:solidFill>
                <a:latin typeface="Arial" panose="020B0604020202020204" pitchFamily="34" charset="0"/>
              </a:rPr>
              <a:t>9</a:t>
            </a:r>
          </a:p>
        </p:txBody>
      </p:sp>
    </p:spTree>
    <p:extLst>
      <p:ext uri="{BB962C8B-B14F-4D97-AF65-F5344CB8AC3E}">
        <p14:creationId xmlns:p14="http://schemas.microsoft.com/office/powerpoint/2010/main" val="1302999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D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9EB72C-BA76-BBB8-04D3-45FCCA60FB57}"/>
              </a:ext>
            </a:extLst>
          </p:cNvPr>
          <p:cNvSpPr txBox="1"/>
          <p:nvPr/>
        </p:nvSpPr>
        <p:spPr>
          <a:xfrm>
            <a:off x="609600" y="1581149"/>
            <a:ext cx="10953750" cy="438150"/>
          </a:xfrm>
          <a:prstGeom prst="rect">
            <a:avLst/>
          </a:prstGeom>
          <a:noFill/>
        </p:spPr>
        <p:txBody>
          <a:bodyPr vert="horz" wrap="square" lIns="0" tIns="0" rIns="0" bIns="0" rtlCol="0">
            <a:noAutofit/>
          </a:bodyPr>
          <a:lstStyle/>
          <a:p>
            <a:pPr>
              <a:spcAft>
                <a:spcPts val="525"/>
              </a:spcAft>
            </a:pPr>
            <a:r>
              <a:rPr lang="en-US" sz="2175" b="1">
                <a:solidFill>
                  <a:srgbClr val="007F83"/>
                </a:solidFill>
                <a:latin typeface="Arial" panose="020B0604020202020204" pitchFamily="34" charset="0"/>
              </a:rPr>
              <a:t>Run a selected code cell with Shift+Enter</a:t>
            </a:r>
          </a:p>
        </p:txBody>
      </p:sp>
      <p:pic>
        <p:nvPicPr>
          <p:cNvPr id="4" name="Picture 3" descr="The notebook toolbar includes the triangular Run control. Code is the selected cell type.">
            <a:extLst>
              <a:ext uri="{FF2B5EF4-FFF2-40B4-BE49-F238E27FC236}">
                <a16:creationId xmlns:a16="http://schemas.microsoft.com/office/drawing/2014/main" id="{98129DF9-9F6C-F2AE-0BF7-8ACF2E0EC06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2339735"/>
            <a:ext cx="5476875" cy="330679"/>
          </a:xfrm>
          <a:prstGeom prst="rect">
            <a:avLst/>
          </a:prstGeom>
        </p:spPr>
      </p:pic>
      <p:pic>
        <p:nvPicPr>
          <p:cNvPr id="6" name="Picture 5" descr="Actual practice table with case-based and aggregate radio-button choices.">
            <a:extLst>
              <a:ext uri="{FF2B5EF4-FFF2-40B4-BE49-F238E27FC236}">
                <a16:creationId xmlns:a16="http://schemas.microsoft.com/office/drawing/2014/main" id="{9F06D8CC-9CF7-6433-31F9-E6BB07AE9BA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46722" y="3105150"/>
            <a:ext cx="5002632" cy="2638425"/>
          </a:xfrm>
          <a:prstGeom prst="rect">
            <a:avLst/>
          </a:prstGeom>
        </p:spPr>
      </p:pic>
      <p:sp>
        <p:nvSpPr>
          <p:cNvPr id="7" name="TextBox 6">
            <a:extLst>
              <a:ext uri="{FF2B5EF4-FFF2-40B4-BE49-F238E27FC236}">
                <a16:creationId xmlns:a16="http://schemas.microsoft.com/office/drawing/2014/main" id="{99450AFE-489E-E905-2D9E-08033883B16B}"/>
              </a:ext>
            </a:extLst>
          </p:cNvPr>
          <p:cNvSpPr txBox="1"/>
          <p:nvPr/>
        </p:nvSpPr>
        <p:spPr>
          <a:xfrm>
            <a:off x="6762750" y="2295524"/>
            <a:ext cx="4762500" cy="685800"/>
          </a:xfrm>
          <a:prstGeom prst="rect">
            <a:avLst/>
          </a:prstGeom>
          <a:noFill/>
        </p:spPr>
        <p:txBody>
          <a:bodyPr vert="horz" wrap="square" lIns="0" tIns="0" rIns="0" bIns="0" rtlCol="0">
            <a:noAutofit/>
          </a:bodyPr>
          <a:lstStyle/>
          <a:p>
            <a:pPr>
              <a:spcAft>
                <a:spcPts val="525"/>
              </a:spcAft>
            </a:pPr>
            <a:r>
              <a:rPr lang="en-US" sz="2325" b="1">
                <a:solidFill>
                  <a:srgbClr val="007F83"/>
                </a:solidFill>
                <a:latin typeface="Arial" panose="020B0604020202020204" pitchFamily="34" charset="0"/>
              </a:rPr>
              <a:t>1  Run the setup cell</a:t>
            </a:r>
          </a:p>
        </p:txBody>
      </p:sp>
      <p:sp>
        <p:nvSpPr>
          <p:cNvPr id="8" name="TextBox 7">
            <a:extLst>
              <a:ext uri="{FF2B5EF4-FFF2-40B4-BE49-F238E27FC236}">
                <a16:creationId xmlns:a16="http://schemas.microsoft.com/office/drawing/2014/main" id="{19D46A75-777C-4195-2A7C-36AE4F1B9B41}"/>
              </a:ext>
            </a:extLst>
          </p:cNvPr>
          <p:cNvSpPr txBox="1"/>
          <p:nvPr/>
        </p:nvSpPr>
        <p:spPr>
          <a:xfrm>
            <a:off x="6762750" y="3343275"/>
            <a:ext cx="4762500" cy="1095375"/>
          </a:xfrm>
          <a:prstGeom prst="rect">
            <a:avLst/>
          </a:prstGeom>
          <a:noFill/>
        </p:spPr>
        <p:txBody>
          <a:bodyPr vert="horz" wrap="square" lIns="0" tIns="0" rIns="0" bIns="0" rtlCol="0">
            <a:noAutofit/>
          </a:bodyPr>
          <a:lstStyle/>
          <a:p>
            <a:pPr>
              <a:spcAft>
                <a:spcPts val="525"/>
              </a:spcAft>
            </a:pPr>
            <a:r>
              <a:rPr lang="en-US" sz="2325" b="1">
                <a:solidFill>
                  <a:srgbClr val="007F83"/>
                </a:solidFill>
                <a:latin typeface="Arial" panose="020B0604020202020204" pitchFamily="34" charset="0"/>
              </a:rPr>
              <a:t>2  Choose an answer</a:t>
            </a:r>
          </a:p>
          <a:p>
            <a:pPr>
              <a:spcAft>
                <a:spcPts val="525"/>
              </a:spcAft>
            </a:pPr>
            <a:r>
              <a:rPr lang="en-US" sz="2325" b="1">
                <a:solidFill>
                  <a:srgbClr val="007F83"/>
                </a:solidFill>
                <a:latin typeface="Arial" panose="020B0604020202020204" pitchFamily="34" charset="0"/>
              </a:rPr>
              <a:t>    for every table</a:t>
            </a:r>
          </a:p>
        </p:txBody>
      </p:sp>
      <p:sp>
        <p:nvSpPr>
          <p:cNvPr id="9" name="TextBox 8">
            <a:extLst>
              <a:ext uri="{FF2B5EF4-FFF2-40B4-BE49-F238E27FC236}">
                <a16:creationId xmlns:a16="http://schemas.microsoft.com/office/drawing/2014/main" id="{D8ACBC9F-387C-2D9E-4598-9040FB230E92}"/>
              </a:ext>
            </a:extLst>
          </p:cNvPr>
          <p:cNvSpPr txBox="1"/>
          <p:nvPr/>
        </p:nvSpPr>
        <p:spPr>
          <a:xfrm>
            <a:off x="6762750" y="4714875"/>
            <a:ext cx="4762500" cy="809625"/>
          </a:xfrm>
          <a:prstGeom prst="rect">
            <a:avLst/>
          </a:prstGeom>
          <a:noFill/>
        </p:spPr>
        <p:txBody>
          <a:bodyPr vert="horz" wrap="square" lIns="0" tIns="0" rIns="0" bIns="0" rtlCol="0">
            <a:noAutofit/>
          </a:bodyPr>
          <a:lstStyle/>
          <a:p>
            <a:pPr>
              <a:spcAft>
                <a:spcPts val="525"/>
              </a:spcAft>
            </a:pPr>
            <a:r>
              <a:rPr lang="en-US" sz="2325" b="1">
                <a:solidFill>
                  <a:srgbClr val="007F83"/>
                </a:solidFill>
                <a:latin typeface="Arial" panose="020B0604020202020204" pitchFamily="34" charset="0"/>
              </a:rPr>
              <a:t>3  Submit and read feedback</a:t>
            </a:r>
          </a:p>
        </p:txBody>
      </p:sp>
      <p:sp>
        <p:nvSpPr>
          <p:cNvPr id="10" name="TextBox 9">
            <a:extLst>
              <a:ext uri="{FF2B5EF4-FFF2-40B4-BE49-F238E27FC236}">
                <a16:creationId xmlns:a16="http://schemas.microsoft.com/office/drawing/2014/main" id="{DC16BD32-F9C1-10ED-6135-A2CA0130769B}"/>
              </a:ext>
            </a:extLst>
          </p:cNvPr>
          <p:cNvSpPr txBox="1"/>
          <p:nvPr/>
        </p:nvSpPr>
        <p:spPr>
          <a:xfrm>
            <a:off x="6762750" y="5800724"/>
            <a:ext cx="4762500" cy="476250"/>
          </a:xfrm>
          <a:prstGeom prst="rect">
            <a:avLst/>
          </a:prstGeom>
          <a:noFill/>
        </p:spPr>
        <p:txBody>
          <a:bodyPr vert="horz" wrap="square" lIns="0" tIns="0" rIns="0" bIns="0" rtlCol="0">
            <a:noAutofit/>
          </a:bodyPr>
          <a:lstStyle/>
          <a:p>
            <a:pPr>
              <a:spcAft>
                <a:spcPts val="525"/>
              </a:spcAft>
            </a:pPr>
            <a:r>
              <a:rPr lang="en-US" sz="2325" b="1">
                <a:solidFill>
                  <a:srgbClr val="007F83"/>
                </a:solidFill>
                <a:latin typeface="Arial" panose="020B0604020202020204" pitchFamily="34" charset="0"/>
              </a:rPr>
              <a:t>4  Try another case</a:t>
            </a:r>
          </a:p>
        </p:txBody>
      </p:sp>
      <p:sp>
        <p:nvSpPr>
          <p:cNvPr id="11" name="TextBox 10">
            <a:extLst>
              <a:ext uri="{FF2B5EF4-FFF2-40B4-BE49-F238E27FC236}">
                <a16:creationId xmlns:a16="http://schemas.microsoft.com/office/drawing/2014/main" id="{10449F9A-8AE1-5523-4D93-6CD5028F37C6}"/>
              </a:ext>
            </a:extLst>
          </p:cNvPr>
          <p:cNvSpPr txBox="1"/>
          <p:nvPr/>
        </p:nvSpPr>
        <p:spPr>
          <a:xfrm>
            <a:off x="609600" y="6181724"/>
            <a:ext cx="5476875" cy="304800"/>
          </a:xfrm>
          <a:prstGeom prst="rect">
            <a:avLst/>
          </a:prstGeom>
          <a:noFill/>
        </p:spPr>
        <p:txBody>
          <a:bodyPr vert="horz" wrap="square" lIns="0" tIns="0" rIns="0" bIns="0" rtlCol="0">
            <a:noAutofit/>
          </a:bodyPr>
          <a:lstStyle/>
          <a:p>
            <a:pPr>
              <a:spcAft>
                <a:spcPts val="525"/>
              </a:spcAft>
            </a:pPr>
            <a:r>
              <a:rPr lang="en-US" sz="1725">
                <a:solidFill>
                  <a:srgbClr val="007F83"/>
                </a:solidFill>
                <a:latin typeface="Arial" panose="020B0604020202020204" pitchFamily="34" charset="0"/>
                <a:hlinkClick r:id="rId5">
                  <a:extLst>
                    <a:ext uri="{A12FA001-AC4F-418D-AE19-62706E023703}">
                      <ahyp:hlinkClr xmlns:ahyp="http://schemas.microsoft.com/office/drawing/2018/hyperlinkcolor" val="tx"/>
                    </a:ext>
                  </a:extLst>
                </a:hlinkClick>
              </a:rPr>
              <a:t>Open the live activity</a:t>
            </a:r>
            <a:endParaRPr lang="en-US" sz="1725">
              <a:solidFill>
                <a:srgbClr val="007F83"/>
              </a:solidFill>
              <a:latin typeface="Arial" panose="020B0604020202020204" pitchFamily="34" charset="0"/>
            </a:endParaRPr>
          </a:p>
        </p:txBody>
      </p:sp>
      <p:sp>
        <p:nvSpPr>
          <p:cNvPr id="12" name="TextBox 11">
            <a:extLst>
              <a:ext uri="{FF2B5EF4-FFF2-40B4-BE49-F238E27FC236}">
                <a16:creationId xmlns:a16="http://schemas.microsoft.com/office/drawing/2014/main" id="{80BB90B8-BB2C-232D-495B-706B51EFF99E}"/>
              </a:ext>
            </a:extLst>
          </p:cNvPr>
          <p:cNvSpPr txBox="1"/>
          <p:nvPr/>
        </p:nvSpPr>
        <p:spPr>
          <a:xfrm>
            <a:off x="609600" y="400050"/>
            <a:ext cx="10972800" cy="714375"/>
          </a:xfrm>
          <a:prstGeom prst="rect">
            <a:avLst/>
          </a:prstGeom>
          <a:noFill/>
        </p:spPr>
        <p:txBody>
          <a:bodyPr vert="horz" wrap="square" lIns="0" tIns="0" rIns="0" bIns="0" rtlCol="0">
            <a:noAutofit/>
          </a:bodyPr>
          <a:lstStyle/>
          <a:p>
            <a:pPr>
              <a:spcAft>
                <a:spcPts val="525"/>
              </a:spcAft>
            </a:pPr>
            <a:r>
              <a:rPr lang="en-US" sz="3300" b="1">
                <a:solidFill>
                  <a:srgbClr val="173B49"/>
                </a:solidFill>
                <a:latin typeface="Arial" panose="020B0604020202020204" pitchFamily="34" charset="0"/>
              </a:rPr>
              <a:t>Walkthrough: choices and feedback</a:t>
            </a:r>
          </a:p>
        </p:txBody>
      </p:sp>
      <p:sp>
        <p:nvSpPr>
          <p:cNvPr id="13" name="Rectangle 12">
            <a:extLst>
              <a:ext uri="{FF2B5EF4-FFF2-40B4-BE49-F238E27FC236}">
                <a16:creationId xmlns:a16="http://schemas.microsoft.com/office/drawing/2014/main" id="{82EED5EE-F257-7DDC-2B27-15C676A62E10}"/>
              </a:ext>
            </a:extLst>
          </p:cNvPr>
          <p:cNvSpPr/>
          <p:nvPr/>
        </p:nvSpPr>
        <p:spPr>
          <a:xfrm>
            <a:off x="609600" y="1200150"/>
            <a:ext cx="666750" cy="38100"/>
          </a:xfrm>
          <a:prstGeom prst="rect">
            <a:avLst/>
          </a:prstGeom>
          <a:solidFill>
            <a:srgbClr val="D89E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DDB5380-2B45-D42C-132E-80AB2C1EA52A}"/>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52656E"/>
                </a:solidFill>
                <a:latin typeface="Arial" panose="020B0604020202020204" pitchFamily="34" charset="0"/>
              </a:rPr>
              <a:t>10</a:t>
            </a:r>
          </a:p>
        </p:txBody>
      </p:sp>
    </p:spTree>
    <p:extLst>
      <p:ext uri="{BB962C8B-B14F-4D97-AF65-F5344CB8AC3E}">
        <p14:creationId xmlns:p14="http://schemas.microsoft.com/office/powerpoint/2010/main" val="42825873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DFA"/>
        </a:solidFill>
        <a:effectLst/>
      </p:bgPr>
    </p:bg>
    <p:spTree>
      <p:nvGrpSpPr>
        <p:cNvPr id="1" name=""/>
        <p:cNvGrpSpPr/>
        <p:nvPr/>
      </p:nvGrpSpPr>
      <p:grpSpPr>
        <a:xfrm>
          <a:off x="0" y="0"/>
          <a:ext cx="0" cy="0"/>
          <a:chOff x="0" y="0"/>
          <a:chExt cx="0" cy="0"/>
        </a:xfrm>
      </p:grpSpPr>
      <p:pic>
        <p:nvPicPr>
          <p:cNvPr id="3" name="Picture 2" descr="Actual reflection text field, Record button, and successful save confirmation.">
            <a:extLst>
              <a:ext uri="{FF2B5EF4-FFF2-40B4-BE49-F238E27FC236}">
                <a16:creationId xmlns:a16="http://schemas.microsoft.com/office/drawing/2014/main" id="{DFA0001F-368E-C510-24E8-0E4BBC88368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655328"/>
            <a:ext cx="10953750" cy="3090145"/>
          </a:xfrm>
          <a:prstGeom prst="rect">
            <a:avLst/>
          </a:prstGeom>
        </p:spPr>
      </p:pic>
      <p:sp>
        <p:nvSpPr>
          <p:cNvPr id="4" name="TextBox 3">
            <a:extLst>
              <a:ext uri="{FF2B5EF4-FFF2-40B4-BE49-F238E27FC236}">
                <a16:creationId xmlns:a16="http://schemas.microsoft.com/office/drawing/2014/main" id="{772BCCDD-D564-51BD-C234-1D7F07B4955B}"/>
              </a:ext>
            </a:extLst>
          </p:cNvPr>
          <p:cNvSpPr txBox="1"/>
          <p:nvPr/>
        </p:nvSpPr>
        <p:spPr>
          <a:xfrm>
            <a:off x="609600" y="5095875"/>
            <a:ext cx="10953750" cy="447675"/>
          </a:xfrm>
          <a:prstGeom prst="rect">
            <a:avLst/>
          </a:prstGeom>
          <a:noFill/>
        </p:spPr>
        <p:txBody>
          <a:bodyPr vert="horz" wrap="square" lIns="0" tIns="0" rIns="0" bIns="0" rtlCol="0">
            <a:noAutofit/>
          </a:bodyPr>
          <a:lstStyle/>
          <a:p>
            <a:pPr>
              <a:spcAft>
                <a:spcPts val="525"/>
              </a:spcAft>
            </a:pPr>
            <a:r>
              <a:rPr lang="en-US" sz="2325" b="1">
                <a:solidFill>
                  <a:srgbClr val="007F83"/>
                </a:solidFill>
                <a:latin typeface="Arial" panose="020B0604020202020204" pitchFamily="34" charset="0"/>
              </a:rPr>
              <a:t>Select Record to save your reflection.</a:t>
            </a:r>
          </a:p>
        </p:txBody>
      </p:sp>
      <p:sp>
        <p:nvSpPr>
          <p:cNvPr id="5" name="TextBox 4">
            <a:extLst>
              <a:ext uri="{FF2B5EF4-FFF2-40B4-BE49-F238E27FC236}">
                <a16:creationId xmlns:a16="http://schemas.microsoft.com/office/drawing/2014/main" id="{28547712-E5F1-588B-C879-3D3FB08DECBB}"/>
              </a:ext>
            </a:extLst>
          </p:cNvPr>
          <p:cNvSpPr txBox="1"/>
          <p:nvPr/>
        </p:nvSpPr>
        <p:spPr>
          <a:xfrm>
            <a:off x="609600" y="5657850"/>
            <a:ext cx="10953750" cy="447675"/>
          </a:xfrm>
          <a:prstGeom prst="rect">
            <a:avLst/>
          </a:prstGeom>
          <a:noFill/>
        </p:spPr>
        <p:txBody>
          <a:bodyPr vert="horz" wrap="square" lIns="0" tIns="0" rIns="0" bIns="0" rtlCol="0">
            <a:noAutofit/>
          </a:bodyPr>
          <a:lstStyle/>
          <a:p>
            <a:pPr>
              <a:spcAft>
                <a:spcPts val="525"/>
              </a:spcAft>
            </a:pPr>
            <a:r>
              <a:rPr lang="en-US" sz="2100">
                <a:solidFill>
                  <a:srgbClr val="173B49"/>
                </a:solidFill>
                <a:latin typeface="Arial" panose="020B0604020202020204" pitchFamily="34" charset="0"/>
              </a:rPr>
              <a:t>Review attempts and progress in My learning record.</a:t>
            </a:r>
          </a:p>
        </p:txBody>
      </p:sp>
      <p:sp>
        <p:nvSpPr>
          <p:cNvPr id="6" name="TextBox 5">
            <a:extLst>
              <a:ext uri="{FF2B5EF4-FFF2-40B4-BE49-F238E27FC236}">
                <a16:creationId xmlns:a16="http://schemas.microsoft.com/office/drawing/2014/main" id="{06DD27B6-9EE3-1FA0-415E-9DB0834B1D77}"/>
              </a:ext>
            </a:extLst>
          </p:cNvPr>
          <p:cNvSpPr txBox="1"/>
          <p:nvPr/>
        </p:nvSpPr>
        <p:spPr>
          <a:xfrm>
            <a:off x="609600" y="6191250"/>
            <a:ext cx="10953750" cy="333375"/>
          </a:xfrm>
          <a:prstGeom prst="rect">
            <a:avLst/>
          </a:prstGeom>
          <a:noFill/>
        </p:spPr>
        <p:txBody>
          <a:bodyPr vert="horz" wrap="square" lIns="0" tIns="0" rIns="0" bIns="0" rtlCol="0">
            <a:noAutofit/>
          </a:bodyPr>
          <a:lstStyle/>
          <a:p>
            <a:pPr>
              <a:spcAft>
                <a:spcPts val="525"/>
              </a:spcAft>
            </a:pPr>
            <a:r>
              <a:rPr lang="en-US">
                <a:solidFill>
                  <a:srgbClr val="52656E"/>
                </a:solidFill>
                <a:latin typeface="Arial" panose="020B0604020202020204" pitchFamily="34" charset="0"/>
              </a:rPr>
              <a:t>Work stays in this browser for this course site.</a:t>
            </a:r>
          </a:p>
        </p:txBody>
      </p:sp>
      <p:sp>
        <p:nvSpPr>
          <p:cNvPr id="7" name="TextBox 6">
            <a:extLst>
              <a:ext uri="{FF2B5EF4-FFF2-40B4-BE49-F238E27FC236}">
                <a16:creationId xmlns:a16="http://schemas.microsoft.com/office/drawing/2014/main" id="{6D789E9D-6DE4-C7AD-6D87-7BA86F616FA6}"/>
              </a:ext>
            </a:extLst>
          </p:cNvPr>
          <p:cNvSpPr txBox="1"/>
          <p:nvPr/>
        </p:nvSpPr>
        <p:spPr>
          <a:xfrm>
            <a:off x="609600" y="400050"/>
            <a:ext cx="10972800" cy="714375"/>
          </a:xfrm>
          <a:prstGeom prst="rect">
            <a:avLst/>
          </a:prstGeom>
          <a:noFill/>
        </p:spPr>
        <p:txBody>
          <a:bodyPr vert="horz" wrap="square" lIns="0" tIns="0" rIns="0" bIns="0" rtlCol="0">
            <a:noAutofit/>
          </a:bodyPr>
          <a:lstStyle/>
          <a:p>
            <a:pPr>
              <a:spcAft>
                <a:spcPts val="525"/>
              </a:spcAft>
            </a:pPr>
            <a:r>
              <a:rPr lang="en-US" sz="3300" b="1">
                <a:solidFill>
                  <a:srgbClr val="173B49"/>
                </a:solidFill>
                <a:latin typeface="Arial" panose="020B0604020202020204" pitchFamily="34" charset="0"/>
              </a:rPr>
              <a:t>Your learning record and reflections</a:t>
            </a:r>
          </a:p>
        </p:txBody>
      </p:sp>
      <p:sp>
        <p:nvSpPr>
          <p:cNvPr id="8" name="Rectangle 7">
            <a:extLst>
              <a:ext uri="{FF2B5EF4-FFF2-40B4-BE49-F238E27FC236}">
                <a16:creationId xmlns:a16="http://schemas.microsoft.com/office/drawing/2014/main" id="{7C219262-C729-06D3-6B22-FA6D5D7060CC}"/>
              </a:ext>
            </a:extLst>
          </p:cNvPr>
          <p:cNvSpPr/>
          <p:nvPr/>
        </p:nvSpPr>
        <p:spPr>
          <a:xfrm>
            <a:off x="609600" y="1200150"/>
            <a:ext cx="666750" cy="38100"/>
          </a:xfrm>
          <a:prstGeom prst="rect">
            <a:avLst/>
          </a:prstGeom>
          <a:solidFill>
            <a:srgbClr val="D89E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8B6E43A-4624-D40F-0644-BA2C821DD8D4}"/>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52656E"/>
                </a:solidFill>
                <a:latin typeface="Arial" panose="020B0604020202020204" pitchFamily="34" charset="0"/>
              </a:rPr>
              <a:t>11</a:t>
            </a:r>
          </a:p>
        </p:txBody>
      </p:sp>
    </p:spTree>
    <p:extLst>
      <p:ext uri="{BB962C8B-B14F-4D97-AF65-F5344CB8AC3E}">
        <p14:creationId xmlns:p14="http://schemas.microsoft.com/office/powerpoint/2010/main" val="7911923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D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968052-51DD-2B6B-D179-3E6BED53D149}"/>
              </a:ext>
            </a:extLst>
          </p:cNvPr>
          <p:cNvSpPr txBox="1"/>
          <p:nvPr/>
        </p:nvSpPr>
        <p:spPr>
          <a:xfrm>
            <a:off x="609600" y="1695449"/>
            <a:ext cx="762000" cy="666750"/>
          </a:xfrm>
          <a:prstGeom prst="rect">
            <a:avLst/>
          </a:prstGeom>
          <a:noFill/>
        </p:spPr>
        <p:txBody>
          <a:bodyPr vert="horz" wrap="square" lIns="0" tIns="0" rIns="0" bIns="0" rtlCol="0">
            <a:noAutofit/>
          </a:bodyPr>
          <a:lstStyle/>
          <a:p>
            <a:pPr>
              <a:spcAft>
                <a:spcPts val="525"/>
              </a:spcAft>
            </a:pPr>
            <a:r>
              <a:rPr lang="en-US" sz="3000" b="1">
                <a:solidFill>
                  <a:srgbClr val="D89E2B"/>
                </a:solidFill>
                <a:latin typeface="Arial" panose="020B0604020202020204" pitchFamily="34" charset="0"/>
              </a:rPr>
              <a:t>01</a:t>
            </a:r>
          </a:p>
        </p:txBody>
      </p:sp>
      <p:sp>
        <p:nvSpPr>
          <p:cNvPr id="3" name="TextBox 2">
            <a:extLst>
              <a:ext uri="{FF2B5EF4-FFF2-40B4-BE49-F238E27FC236}">
                <a16:creationId xmlns:a16="http://schemas.microsoft.com/office/drawing/2014/main" id="{DA495088-B4BA-9AC0-0877-F646A4DB59FA}"/>
              </a:ext>
            </a:extLst>
          </p:cNvPr>
          <p:cNvSpPr txBox="1"/>
          <p:nvPr/>
        </p:nvSpPr>
        <p:spPr>
          <a:xfrm>
            <a:off x="1762125" y="1695449"/>
            <a:ext cx="9525000" cy="952500"/>
          </a:xfrm>
          <a:prstGeom prst="rect">
            <a:avLst/>
          </a:prstGeom>
          <a:noFill/>
        </p:spPr>
        <p:txBody>
          <a:bodyPr vert="horz" wrap="square" lIns="0" tIns="0" rIns="0" bIns="0" rtlCol="0">
            <a:noAutofit/>
          </a:bodyPr>
          <a:lstStyle/>
          <a:p>
            <a:pPr>
              <a:spcAft>
                <a:spcPts val="525"/>
              </a:spcAft>
            </a:pPr>
            <a:r>
              <a:rPr lang="en-US" sz="2625" b="1">
                <a:solidFill>
                  <a:srgbClr val="173B49"/>
                </a:solidFill>
                <a:latin typeface="Arial" panose="020B0604020202020204" pitchFamily="34" charset="0"/>
              </a:rPr>
              <a:t>What does one row in this table represent?</a:t>
            </a:r>
          </a:p>
        </p:txBody>
      </p:sp>
      <p:sp>
        <p:nvSpPr>
          <p:cNvPr id="4" name="TextBox 3">
            <a:extLst>
              <a:ext uri="{FF2B5EF4-FFF2-40B4-BE49-F238E27FC236}">
                <a16:creationId xmlns:a16="http://schemas.microsoft.com/office/drawing/2014/main" id="{0CCC1A10-2A6B-61DA-3F51-F1067CE328D2}"/>
              </a:ext>
            </a:extLst>
          </p:cNvPr>
          <p:cNvSpPr txBox="1"/>
          <p:nvPr/>
        </p:nvSpPr>
        <p:spPr>
          <a:xfrm>
            <a:off x="609600" y="3076574"/>
            <a:ext cx="762000" cy="666750"/>
          </a:xfrm>
          <a:prstGeom prst="rect">
            <a:avLst/>
          </a:prstGeom>
          <a:noFill/>
        </p:spPr>
        <p:txBody>
          <a:bodyPr vert="horz" wrap="square" lIns="0" tIns="0" rIns="0" bIns="0" rtlCol="0">
            <a:noAutofit/>
          </a:bodyPr>
          <a:lstStyle/>
          <a:p>
            <a:pPr>
              <a:spcAft>
                <a:spcPts val="525"/>
              </a:spcAft>
            </a:pPr>
            <a:r>
              <a:rPr lang="en-US" sz="3000" b="1">
                <a:solidFill>
                  <a:srgbClr val="D89E2B"/>
                </a:solidFill>
                <a:latin typeface="Arial" panose="020B0604020202020204" pitchFamily="34" charset="0"/>
              </a:rPr>
              <a:t>02</a:t>
            </a:r>
          </a:p>
        </p:txBody>
      </p:sp>
      <p:sp>
        <p:nvSpPr>
          <p:cNvPr id="5" name="TextBox 4">
            <a:extLst>
              <a:ext uri="{FF2B5EF4-FFF2-40B4-BE49-F238E27FC236}">
                <a16:creationId xmlns:a16="http://schemas.microsoft.com/office/drawing/2014/main" id="{E6D10AFC-A2C4-5F65-8FEE-D6431B04E72F}"/>
              </a:ext>
            </a:extLst>
          </p:cNvPr>
          <p:cNvSpPr txBox="1"/>
          <p:nvPr/>
        </p:nvSpPr>
        <p:spPr>
          <a:xfrm>
            <a:off x="1762125" y="3076574"/>
            <a:ext cx="9525000" cy="952500"/>
          </a:xfrm>
          <a:prstGeom prst="rect">
            <a:avLst/>
          </a:prstGeom>
          <a:noFill/>
        </p:spPr>
        <p:txBody>
          <a:bodyPr vert="horz" wrap="square" lIns="0" tIns="0" rIns="0" bIns="0" rtlCol="0">
            <a:noAutofit/>
          </a:bodyPr>
          <a:lstStyle/>
          <a:p>
            <a:pPr>
              <a:spcAft>
                <a:spcPts val="525"/>
              </a:spcAft>
            </a:pPr>
            <a:r>
              <a:rPr lang="en-US" sz="2625" b="1">
                <a:solidFill>
                  <a:srgbClr val="173B49"/>
                </a:solidFill>
                <a:latin typeface="Arial" panose="020B0604020202020204" pitchFamily="34" charset="0"/>
              </a:rPr>
              <a:t>What changed in your answer after the feedback?</a:t>
            </a:r>
          </a:p>
        </p:txBody>
      </p:sp>
      <p:sp>
        <p:nvSpPr>
          <p:cNvPr id="6" name="TextBox 5">
            <a:extLst>
              <a:ext uri="{FF2B5EF4-FFF2-40B4-BE49-F238E27FC236}">
                <a16:creationId xmlns:a16="http://schemas.microsoft.com/office/drawing/2014/main" id="{E60438B0-D250-8635-12AF-FE09CCE0F577}"/>
              </a:ext>
            </a:extLst>
          </p:cNvPr>
          <p:cNvSpPr txBox="1"/>
          <p:nvPr/>
        </p:nvSpPr>
        <p:spPr>
          <a:xfrm>
            <a:off x="609600" y="4457699"/>
            <a:ext cx="762000" cy="666750"/>
          </a:xfrm>
          <a:prstGeom prst="rect">
            <a:avLst/>
          </a:prstGeom>
          <a:noFill/>
        </p:spPr>
        <p:txBody>
          <a:bodyPr vert="horz" wrap="square" lIns="0" tIns="0" rIns="0" bIns="0" rtlCol="0">
            <a:noAutofit/>
          </a:bodyPr>
          <a:lstStyle/>
          <a:p>
            <a:pPr>
              <a:spcAft>
                <a:spcPts val="525"/>
              </a:spcAft>
            </a:pPr>
            <a:r>
              <a:rPr lang="en-US" sz="3000" b="1">
                <a:solidFill>
                  <a:srgbClr val="D89E2B"/>
                </a:solidFill>
                <a:latin typeface="Arial" panose="020B0604020202020204" pitchFamily="34" charset="0"/>
              </a:rPr>
              <a:t>03</a:t>
            </a:r>
          </a:p>
        </p:txBody>
      </p:sp>
      <p:sp>
        <p:nvSpPr>
          <p:cNvPr id="7" name="TextBox 6">
            <a:extLst>
              <a:ext uri="{FF2B5EF4-FFF2-40B4-BE49-F238E27FC236}">
                <a16:creationId xmlns:a16="http://schemas.microsoft.com/office/drawing/2014/main" id="{37E12101-0C17-C164-5855-CDC377914BB4}"/>
              </a:ext>
            </a:extLst>
          </p:cNvPr>
          <p:cNvSpPr txBox="1"/>
          <p:nvPr/>
        </p:nvSpPr>
        <p:spPr>
          <a:xfrm>
            <a:off x="1762125" y="4457699"/>
            <a:ext cx="9525000" cy="952500"/>
          </a:xfrm>
          <a:prstGeom prst="rect">
            <a:avLst/>
          </a:prstGeom>
          <a:noFill/>
        </p:spPr>
        <p:txBody>
          <a:bodyPr vert="horz" wrap="square" lIns="0" tIns="0" rIns="0" bIns="0" rtlCol="0">
            <a:noAutofit/>
          </a:bodyPr>
          <a:lstStyle/>
          <a:p>
            <a:pPr>
              <a:spcAft>
                <a:spcPts val="525"/>
              </a:spcAft>
            </a:pPr>
            <a:r>
              <a:rPr lang="en-US" sz="2625" b="1">
                <a:solidFill>
                  <a:srgbClr val="173B49"/>
                </a:solidFill>
                <a:latin typeface="Arial" panose="020B0604020202020204" pitchFamily="34" charset="0"/>
              </a:rPr>
              <a:t>What would you verify before using this report?</a:t>
            </a:r>
          </a:p>
        </p:txBody>
      </p:sp>
      <p:sp>
        <p:nvSpPr>
          <p:cNvPr id="8" name="TextBox 7">
            <a:extLst>
              <a:ext uri="{FF2B5EF4-FFF2-40B4-BE49-F238E27FC236}">
                <a16:creationId xmlns:a16="http://schemas.microsoft.com/office/drawing/2014/main" id="{A48F4083-9C7C-4BAD-1D23-B8510D0CE00E}"/>
              </a:ext>
            </a:extLst>
          </p:cNvPr>
          <p:cNvSpPr txBox="1"/>
          <p:nvPr/>
        </p:nvSpPr>
        <p:spPr>
          <a:xfrm>
            <a:off x="609600" y="400050"/>
            <a:ext cx="10972800" cy="714375"/>
          </a:xfrm>
          <a:prstGeom prst="rect">
            <a:avLst/>
          </a:prstGeom>
          <a:noFill/>
        </p:spPr>
        <p:txBody>
          <a:bodyPr vert="horz" wrap="square" lIns="0" tIns="0" rIns="0" bIns="0" rtlCol="0">
            <a:noAutofit/>
          </a:bodyPr>
          <a:lstStyle/>
          <a:p>
            <a:pPr>
              <a:spcAft>
                <a:spcPts val="525"/>
              </a:spcAft>
            </a:pPr>
            <a:r>
              <a:rPr lang="en-US" sz="3300" b="1">
                <a:solidFill>
                  <a:srgbClr val="173B49"/>
                </a:solidFill>
                <a:latin typeface="Arial" panose="020B0604020202020204" pitchFamily="34" charset="0"/>
              </a:rPr>
              <a:t>Learning with a facilitator</a:t>
            </a:r>
          </a:p>
        </p:txBody>
      </p:sp>
      <p:sp>
        <p:nvSpPr>
          <p:cNvPr id="9" name="Rectangle 8">
            <a:extLst>
              <a:ext uri="{FF2B5EF4-FFF2-40B4-BE49-F238E27FC236}">
                <a16:creationId xmlns:a16="http://schemas.microsoft.com/office/drawing/2014/main" id="{9E036585-D988-859E-FD10-4EA130EF4B35}"/>
              </a:ext>
            </a:extLst>
          </p:cNvPr>
          <p:cNvSpPr/>
          <p:nvPr/>
        </p:nvSpPr>
        <p:spPr>
          <a:xfrm>
            <a:off x="609600" y="1200150"/>
            <a:ext cx="666750" cy="38100"/>
          </a:xfrm>
          <a:prstGeom prst="rect">
            <a:avLst/>
          </a:prstGeom>
          <a:solidFill>
            <a:srgbClr val="D89E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841F2F8-9804-2924-6B0B-57A548B1E915}"/>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52656E"/>
                </a:solidFill>
                <a:latin typeface="Arial" panose="020B0604020202020204" pitchFamily="34" charset="0"/>
              </a:rPr>
              <a:t>12</a:t>
            </a:r>
          </a:p>
        </p:txBody>
      </p:sp>
    </p:spTree>
    <p:extLst>
      <p:ext uri="{BB962C8B-B14F-4D97-AF65-F5344CB8AC3E}">
        <p14:creationId xmlns:p14="http://schemas.microsoft.com/office/powerpoint/2010/main" val="3117170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D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8C1A0E-7C18-89E1-AC9A-3D927766656F}"/>
              </a:ext>
            </a:extLst>
          </p:cNvPr>
          <p:cNvSpPr txBox="1"/>
          <p:nvPr/>
        </p:nvSpPr>
        <p:spPr>
          <a:xfrm>
            <a:off x="609600" y="1590674"/>
            <a:ext cx="10953750" cy="514350"/>
          </a:xfrm>
          <a:prstGeom prst="rect">
            <a:avLst/>
          </a:prstGeom>
          <a:noFill/>
        </p:spPr>
        <p:txBody>
          <a:bodyPr vert="horz" wrap="square" lIns="0" tIns="0" rIns="0" bIns="0" rtlCol="0">
            <a:noAutofit/>
          </a:bodyPr>
          <a:lstStyle/>
          <a:p>
            <a:pPr>
              <a:spcAft>
                <a:spcPts val="525"/>
              </a:spcAft>
            </a:pPr>
            <a:r>
              <a:rPr lang="en-US" sz="2400" b="1">
                <a:solidFill>
                  <a:srgbClr val="007F83"/>
                </a:solidFill>
                <a:latin typeface="Arial" panose="020B0604020202020204" pitchFamily="34" charset="0"/>
              </a:rPr>
              <a:t>Use your field experience to shape the next version.</a:t>
            </a:r>
          </a:p>
        </p:txBody>
      </p:sp>
      <p:sp>
        <p:nvSpPr>
          <p:cNvPr id="3" name="TextBox 2">
            <a:extLst>
              <a:ext uri="{FF2B5EF4-FFF2-40B4-BE49-F238E27FC236}">
                <a16:creationId xmlns:a16="http://schemas.microsoft.com/office/drawing/2014/main" id="{C605AD77-57BE-524B-DE41-48144998DDEC}"/>
              </a:ext>
            </a:extLst>
          </p:cNvPr>
          <p:cNvSpPr txBox="1"/>
          <p:nvPr/>
        </p:nvSpPr>
        <p:spPr>
          <a:xfrm>
            <a:off x="609600" y="2533650"/>
            <a:ext cx="4762500" cy="428625"/>
          </a:xfrm>
          <a:prstGeom prst="rect">
            <a:avLst/>
          </a:prstGeom>
          <a:noFill/>
        </p:spPr>
        <p:txBody>
          <a:bodyPr vert="horz" wrap="square" lIns="0" tIns="0" rIns="0" bIns="0" rtlCol="0">
            <a:noAutofit/>
          </a:bodyPr>
          <a:lstStyle/>
          <a:p>
            <a:pPr>
              <a:spcAft>
                <a:spcPts val="525"/>
              </a:spcAft>
            </a:pPr>
            <a:r>
              <a:rPr lang="en-US" sz="2175" b="1">
                <a:solidFill>
                  <a:srgbClr val="007F83"/>
                </a:solidFill>
                <a:latin typeface="Arial" panose="020B0604020202020204" pitchFamily="34" charset="0"/>
              </a:rPr>
              <a:t>An example from this course</a:t>
            </a:r>
          </a:p>
        </p:txBody>
      </p:sp>
      <p:sp>
        <p:nvSpPr>
          <p:cNvPr id="4" name="TextBox 3">
            <a:extLst>
              <a:ext uri="{FF2B5EF4-FFF2-40B4-BE49-F238E27FC236}">
                <a16:creationId xmlns:a16="http://schemas.microsoft.com/office/drawing/2014/main" id="{C1FC58BC-2296-E5A6-4BC1-06AD1FCED93B}"/>
              </a:ext>
            </a:extLst>
          </p:cNvPr>
          <p:cNvSpPr txBox="1"/>
          <p:nvPr/>
        </p:nvSpPr>
        <p:spPr>
          <a:xfrm>
            <a:off x="609600" y="3190875"/>
            <a:ext cx="4476750" cy="1666875"/>
          </a:xfrm>
          <a:prstGeom prst="rect">
            <a:avLst/>
          </a:prstGeom>
          <a:noFill/>
        </p:spPr>
        <p:txBody>
          <a:bodyPr vert="horz" wrap="square" lIns="0" tIns="0" rIns="0" bIns="0" rtlCol="0">
            <a:noAutofit/>
          </a:bodyPr>
          <a:lstStyle/>
          <a:p>
            <a:pPr>
              <a:spcAft>
                <a:spcPts val="525"/>
              </a:spcAft>
            </a:pPr>
            <a:r>
              <a:rPr lang="en-US" sz="2400">
                <a:solidFill>
                  <a:srgbClr val="173B49"/>
                </a:solidFill>
                <a:latin typeface="Arial" panose="020B0604020202020204" pitchFamily="34" charset="0"/>
              </a:rPr>
              <a:t>Give a reflection question</a:t>
            </a:r>
          </a:p>
          <a:p>
            <a:pPr>
              <a:spcAft>
                <a:spcPts val="525"/>
              </a:spcAft>
            </a:pPr>
            <a:r>
              <a:rPr lang="en-US" sz="2400">
                <a:solidFill>
                  <a:srgbClr val="173B49"/>
                </a:solidFill>
                <a:latin typeface="Arial" panose="020B0604020202020204" pitchFamily="34" charset="0"/>
              </a:rPr>
              <a:t>a working response field</a:t>
            </a:r>
          </a:p>
          <a:p>
            <a:pPr>
              <a:spcAft>
                <a:spcPts val="525"/>
              </a:spcAft>
            </a:pPr>
            <a:r>
              <a:rPr lang="en-US" sz="2400">
                <a:solidFill>
                  <a:srgbClr val="173B49"/>
                </a:solidFill>
                <a:latin typeface="Arial" panose="020B0604020202020204" pitchFamily="34" charset="0"/>
              </a:rPr>
              <a:t>and a Record button.</a:t>
            </a:r>
          </a:p>
        </p:txBody>
      </p:sp>
      <p:sp>
        <p:nvSpPr>
          <p:cNvPr id="5" name="TextBox 4">
            <a:extLst>
              <a:ext uri="{FF2B5EF4-FFF2-40B4-BE49-F238E27FC236}">
                <a16:creationId xmlns:a16="http://schemas.microsoft.com/office/drawing/2014/main" id="{2A08598F-0F9A-506F-F9B2-F3198B53578D}"/>
              </a:ext>
            </a:extLst>
          </p:cNvPr>
          <p:cNvSpPr txBox="1"/>
          <p:nvPr/>
        </p:nvSpPr>
        <p:spPr>
          <a:xfrm>
            <a:off x="5867400" y="2533650"/>
            <a:ext cx="5667375" cy="733425"/>
          </a:xfrm>
          <a:prstGeom prst="rect">
            <a:avLst/>
          </a:prstGeom>
          <a:noFill/>
        </p:spPr>
        <p:txBody>
          <a:bodyPr vert="horz" wrap="square" lIns="0" tIns="0" rIns="0" bIns="0" rtlCol="0">
            <a:noAutofit/>
          </a:bodyPr>
          <a:lstStyle/>
          <a:p>
            <a:pPr>
              <a:spcAft>
                <a:spcPts val="525"/>
              </a:spcAft>
            </a:pPr>
            <a:r>
              <a:rPr lang="en-US" sz="2100" b="1">
                <a:solidFill>
                  <a:srgbClr val="007F83"/>
                </a:solidFill>
                <a:latin typeface="Arial" panose="020B0604020202020204" pitchFamily="34" charset="0"/>
              </a:rPr>
              <a:t>An example request to an AI assistant</a:t>
            </a:r>
          </a:p>
        </p:txBody>
      </p:sp>
      <p:sp>
        <p:nvSpPr>
          <p:cNvPr id="6" name="TextBox 5">
            <a:extLst>
              <a:ext uri="{FF2B5EF4-FFF2-40B4-BE49-F238E27FC236}">
                <a16:creationId xmlns:a16="http://schemas.microsoft.com/office/drawing/2014/main" id="{2E93085B-B1A8-9DE5-FC1F-C1C6B90BC65C}"/>
              </a:ext>
            </a:extLst>
          </p:cNvPr>
          <p:cNvSpPr txBox="1"/>
          <p:nvPr/>
        </p:nvSpPr>
        <p:spPr>
          <a:xfrm>
            <a:off x="5867400" y="3457575"/>
            <a:ext cx="5667375" cy="2047875"/>
          </a:xfrm>
          <a:prstGeom prst="rect">
            <a:avLst/>
          </a:prstGeom>
          <a:noFill/>
        </p:spPr>
        <p:txBody>
          <a:bodyPr vert="horz" wrap="square" lIns="0" tIns="0" rIns="0" bIns="0" rtlCol="0">
            <a:noAutofit/>
          </a:bodyPr>
          <a:lstStyle/>
          <a:p>
            <a:pPr>
              <a:spcAft>
                <a:spcPts val="525"/>
              </a:spcAft>
            </a:pPr>
            <a:r>
              <a:rPr lang="en-US" sz="2250">
                <a:solidFill>
                  <a:srgbClr val="173B49"/>
                </a:solidFill>
                <a:latin typeface="Arial" panose="020B0604020202020204" pitchFamily="34" charset="0"/>
              </a:rPr>
              <a:t>"Inspect this activity. Add a response field and a Record button. Show how to check that the saved response returns after reload."</a:t>
            </a:r>
          </a:p>
        </p:txBody>
      </p:sp>
      <p:sp>
        <p:nvSpPr>
          <p:cNvPr id="7" name="TextBox 6">
            <a:extLst>
              <a:ext uri="{FF2B5EF4-FFF2-40B4-BE49-F238E27FC236}">
                <a16:creationId xmlns:a16="http://schemas.microsoft.com/office/drawing/2014/main" id="{23B2E6C8-E2B1-E2CB-D0A9-1605262B83BF}"/>
              </a:ext>
            </a:extLst>
          </p:cNvPr>
          <p:cNvSpPr txBox="1"/>
          <p:nvPr/>
        </p:nvSpPr>
        <p:spPr>
          <a:xfrm>
            <a:off x="609600" y="5981699"/>
            <a:ext cx="10953750" cy="419100"/>
          </a:xfrm>
          <a:prstGeom prst="rect">
            <a:avLst/>
          </a:prstGeom>
          <a:noFill/>
        </p:spPr>
        <p:txBody>
          <a:bodyPr vert="horz" wrap="square" lIns="0" tIns="0" rIns="0" bIns="0" rtlCol="0">
            <a:noAutofit/>
          </a:bodyPr>
          <a:lstStyle/>
          <a:p>
            <a:pPr>
              <a:spcAft>
                <a:spcPts val="525"/>
              </a:spcAft>
            </a:pPr>
            <a:r>
              <a:rPr lang="en-US" sz="2025">
                <a:solidFill>
                  <a:srgbClr val="52656E"/>
                </a:solidFill>
                <a:latin typeface="Arial" panose="020B0604020202020204" pitchFamily="34" charset="0"/>
              </a:rPr>
              <a:t>Work with invented data and an approved AI tool.</a:t>
            </a:r>
          </a:p>
        </p:txBody>
      </p:sp>
      <p:sp>
        <p:nvSpPr>
          <p:cNvPr id="8" name="TextBox 7">
            <a:extLst>
              <a:ext uri="{FF2B5EF4-FFF2-40B4-BE49-F238E27FC236}">
                <a16:creationId xmlns:a16="http://schemas.microsoft.com/office/drawing/2014/main" id="{6D131820-F76C-0B2C-7BC7-8DF7E9705638}"/>
              </a:ext>
            </a:extLst>
          </p:cNvPr>
          <p:cNvSpPr txBox="1"/>
          <p:nvPr/>
        </p:nvSpPr>
        <p:spPr>
          <a:xfrm>
            <a:off x="609600" y="400050"/>
            <a:ext cx="10972800" cy="714375"/>
          </a:xfrm>
          <a:prstGeom prst="rect">
            <a:avLst/>
          </a:prstGeom>
          <a:noFill/>
        </p:spPr>
        <p:txBody>
          <a:bodyPr vert="horz" wrap="square" lIns="0" tIns="0" rIns="0" bIns="0" rtlCol="0">
            <a:noAutofit/>
          </a:bodyPr>
          <a:lstStyle/>
          <a:p>
            <a:pPr>
              <a:spcAft>
                <a:spcPts val="525"/>
              </a:spcAft>
            </a:pPr>
            <a:r>
              <a:rPr lang="en-US" sz="3300" b="1">
                <a:solidFill>
                  <a:srgbClr val="173B49"/>
                </a:solidFill>
                <a:latin typeface="Arial" panose="020B0604020202020204" pitchFamily="34" charset="0"/>
              </a:rPr>
              <a:t>Epidemiologists as course authors</a:t>
            </a:r>
          </a:p>
        </p:txBody>
      </p:sp>
      <p:sp>
        <p:nvSpPr>
          <p:cNvPr id="9" name="Rectangle 8">
            <a:extLst>
              <a:ext uri="{FF2B5EF4-FFF2-40B4-BE49-F238E27FC236}">
                <a16:creationId xmlns:a16="http://schemas.microsoft.com/office/drawing/2014/main" id="{D12F0673-7852-3C7F-F95B-A8725030BF79}"/>
              </a:ext>
            </a:extLst>
          </p:cNvPr>
          <p:cNvSpPr/>
          <p:nvPr/>
        </p:nvSpPr>
        <p:spPr>
          <a:xfrm>
            <a:off x="609600" y="1200150"/>
            <a:ext cx="666750" cy="38100"/>
          </a:xfrm>
          <a:prstGeom prst="rect">
            <a:avLst/>
          </a:prstGeom>
          <a:solidFill>
            <a:srgbClr val="D89E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A10894B-D876-9306-6FBD-49A565BC5176}"/>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52656E"/>
                </a:solidFill>
                <a:latin typeface="Arial" panose="020B0604020202020204" pitchFamily="34" charset="0"/>
              </a:rPr>
              <a:t>13</a:t>
            </a:r>
          </a:p>
        </p:txBody>
      </p:sp>
    </p:spTree>
    <p:extLst>
      <p:ext uri="{BB962C8B-B14F-4D97-AF65-F5344CB8AC3E}">
        <p14:creationId xmlns:p14="http://schemas.microsoft.com/office/powerpoint/2010/main" val="14413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D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092783-0292-6C3C-6056-DA7067FE1D70}"/>
              </a:ext>
            </a:extLst>
          </p:cNvPr>
          <p:cNvSpPr txBox="1"/>
          <p:nvPr/>
        </p:nvSpPr>
        <p:spPr>
          <a:xfrm>
            <a:off x="609600" y="1571624"/>
            <a:ext cx="609600" cy="438150"/>
          </a:xfrm>
          <a:prstGeom prst="rect">
            <a:avLst/>
          </a:prstGeom>
          <a:noFill/>
        </p:spPr>
        <p:txBody>
          <a:bodyPr vert="horz" wrap="square" lIns="0" tIns="0" rIns="0" bIns="0" rtlCol="0">
            <a:noAutofit/>
          </a:bodyPr>
          <a:lstStyle/>
          <a:p>
            <a:pPr>
              <a:spcAft>
                <a:spcPts val="525"/>
              </a:spcAft>
            </a:pPr>
            <a:r>
              <a:rPr lang="en-US" sz="2250" b="1">
                <a:solidFill>
                  <a:srgbClr val="D89E2B"/>
                </a:solidFill>
                <a:latin typeface="Arial" panose="020B0604020202020204" pitchFamily="34" charset="0"/>
              </a:rPr>
              <a:t>01</a:t>
            </a:r>
          </a:p>
        </p:txBody>
      </p:sp>
      <p:sp>
        <p:nvSpPr>
          <p:cNvPr id="3" name="TextBox 2">
            <a:extLst>
              <a:ext uri="{FF2B5EF4-FFF2-40B4-BE49-F238E27FC236}">
                <a16:creationId xmlns:a16="http://schemas.microsoft.com/office/drawing/2014/main" id="{ABB253B2-76EC-2F87-A2FB-491C1DE76B88}"/>
              </a:ext>
            </a:extLst>
          </p:cNvPr>
          <p:cNvSpPr txBox="1"/>
          <p:nvPr/>
        </p:nvSpPr>
        <p:spPr>
          <a:xfrm>
            <a:off x="1476375" y="1571625"/>
            <a:ext cx="2095500" cy="447675"/>
          </a:xfrm>
          <a:prstGeom prst="rect">
            <a:avLst/>
          </a:prstGeom>
          <a:noFill/>
        </p:spPr>
        <p:txBody>
          <a:bodyPr vert="horz" wrap="square" lIns="0" tIns="0" rIns="0" bIns="0" rtlCol="0">
            <a:noAutofit/>
          </a:bodyPr>
          <a:lstStyle/>
          <a:p>
            <a:pPr>
              <a:spcAft>
                <a:spcPts val="525"/>
              </a:spcAft>
            </a:pPr>
            <a:r>
              <a:rPr lang="en-US" sz="2400" b="1">
                <a:solidFill>
                  <a:srgbClr val="007F83"/>
                </a:solidFill>
                <a:latin typeface="Arial" panose="020B0604020202020204" pitchFamily="34" charset="0"/>
              </a:rPr>
              <a:t>Identify</a:t>
            </a:r>
          </a:p>
        </p:txBody>
      </p:sp>
      <p:sp>
        <p:nvSpPr>
          <p:cNvPr id="4" name="TextBox 3">
            <a:extLst>
              <a:ext uri="{FF2B5EF4-FFF2-40B4-BE49-F238E27FC236}">
                <a16:creationId xmlns:a16="http://schemas.microsoft.com/office/drawing/2014/main" id="{949E3198-6055-A216-F63B-0B51CA773027}"/>
              </a:ext>
            </a:extLst>
          </p:cNvPr>
          <p:cNvSpPr txBox="1"/>
          <p:nvPr/>
        </p:nvSpPr>
        <p:spPr>
          <a:xfrm>
            <a:off x="3952875" y="1571625"/>
            <a:ext cx="7524750" cy="504825"/>
          </a:xfrm>
          <a:prstGeom prst="rect">
            <a:avLst/>
          </a:prstGeom>
          <a:noFill/>
        </p:spPr>
        <p:txBody>
          <a:bodyPr vert="horz" wrap="square" lIns="0" tIns="0" rIns="0" bIns="0" rtlCol="0">
            <a:noAutofit/>
          </a:bodyPr>
          <a:lstStyle/>
          <a:p>
            <a:pPr>
              <a:spcAft>
                <a:spcPts val="525"/>
              </a:spcAft>
            </a:pPr>
            <a:r>
              <a:rPr lang="en-US" sz="2175">
                <a:solidFill>
                  <a:srgbClr val="173B49"/>
                </a:solidFill>
                <a:latin typeface="Arial" panose="020B0604020202020204" pitchFamily="34" charset="0"/>
              </a:rPr>
              <a:t>Name the gap and the learner goal.</a:t>
            </a:r>
          </a:p>
        </p:txBody>
      </p:sp>
      <p:sp>
        <p:nvSpPr>
          <p:cNvPr id="5" name="TextBox 4">
            <a:extLst>
              <a:ext uri="{FF2B5EF4-FFF2-40B4-BE49-F238E27FC236}">
                <a16:creationId xmlns:a16="http://schemas.microsoft.com/office/drawing/2014/main" id="{EC911AC4-AE3B-AD6E-9A46-31C727B9DE9A}"/>
              </a:ext>
            </a:extLst>
          </p:cNvPr>
          <p:cNvSpPr txBox="1"/>
          <p:nvPr/>
        </p:nvSpPr>
        <p:spPr>
          <a:xfrm>
            <a:off x="609600" y="2324099"/>
            <a:ext cx="609600" cy="438150"/>
          </a:xfrm>
          <a:prstGeom prst="rect">
            <a:avLst/>
          </a:prstGeom>
          <a:noFill/>
        </p:spPr>
        <p:txBody>
          <a:bodyPr vert="horz" wrap="square" lIns="0" tIns="0" rIns="0" bIns="0" rtlCol="0">
            <a:noAutofit/>
          </a:bodyPr>
          <a:lstStyle/>
          <a:p>
            <a:pPr>
              <a:spcAft>
                <a:spcPts val="525"/>
              </a:spcAft>
            </a:pPr>
            <a:r>
              <a:rPr lang="en-US" sz="2250" b="1">
                <a:solidFill>
                  <a:srgbClr val="D89E2B"/>
                </a:solidFill>
                <a:latin typeface="Arial" panose="020B0604020202020204" pitchFamily="34" charset="0"/>
              </a:rPr>
              <a:t>02</a:t>
            </a:r>
          </a:p>
        </p:txBody>
      </p:sp>
      <p:sp>
        <p:nvSpPr>
          <p:cNvPr id="6" name="TextBox 5">
            <a:extLst>
              <a:ext uri="{FF2B5EF4-FFF2-40B4-BE49-F238E27FC236}">
                <a16:creationId xmlns:a16="http://schemas.microsoft.com/office/drawing/2014/main" id="{7680423A-449D-DF77-E6FB-4E02A24FA2EE}"/>
              </a:ext>
            </a:extLst>
          </p:cNvPr>
          <p:cNvSpPr txBox="1"/>
          <p:nvPr/>
        </p:nvSpPr>
        <p:spPr>
          <a:xfrm>
            <a:off x="1476375" y="2324100"/>
            <a:ext cx="2095500" cy="447675"/>
          </a:xfrm>
          <a:prstGeom prst="rect">
            <a:avLst/>
          </a:prstGeom>
          <a:noFill/>
        </p:spPr>
        <p:txBody>
          <a:bodyPr vert="horz" wrap="square" lIns="0" tIns="0" rIns="0" bIns="0" rtlCol="0">
            <a:noAutofit/>
          </a:bodyPr>
          <a:lstStyle/>
          <a:p>
            <a:pPr>
              <a:spcAft>
                <a:spcPts val="525"/>
              </a:spcAft>
            </a:pPr>
            <a:r>
              <a:rPr lang="en-US" sz="2400" b="1">
                <a:solidFill>
                  <a:srgbClr val="007F83"/>
                </a:solidFill>
                <a:latin typeface="Arial" panose="020B0604020202020204" pitchFamily="34" charset="0"/>
              </a:rPr>
              <a:t>Plan</a:t>
            </a:r>
          </a:p>
        </p:txBody>
      </p:sp>
      <p:sp>
        <p:nvSpPr>
          <p:cNvPr id="7" name="TextBox 6">
            <a:extLst>
              <a:ext uri="{FF2B5EF4-FFF2-40B4-BE49-F238E27FC236}">
                <a16:creationId xmlns:a16="http://schemas.microsoft.com/office/drawing/2014/main" id="{7E0232EE-AC43-6A1B-6B5F-7452D673F3FC}"/>
              </a:ext>
            </a:extLst>
          </p:cNvPr>
          <p:cNvSpPr txBox="1"/>
          <p:nvPr/>
        </p:nvSpPr>
        <p:spPr>
          <a:xfrm>
            <a:off x="3952875" y="2324100"/>
            <a:ext cx="7524750" cy="504825"/>
          </a:xfrm>
          <a:prstGeom prst="rect">
            <a:avLst/>
          </a:prstGeom>
          <a:noFill/>
        </p:spPr>
        <p:txBody>
          <a:bodyPr vert="horz" wrap="square" lIns="0" tIns="0" rIns="0" bIns="0" rtlCol="0">
            <a:noAutofit/>
          </a:bodyPr>
          <a:lstStyle/>
          <a:p>
            <a:pPr>
              <a:spcAft>
                <a:spcPts val="525"/>
              </a:spcAft>
            </a:pPr>
            <a:r>
              <a:rPr lang="en-US" sz="2175">
                <a:solidFill>
                  <a:srgbClr val="173B49"/>
                </a:solidFill>
                <a:latin typeface="Arial" panose="020B0604020202020204" pitchFamily="34" charset="0"/>
              </a:rPr>
              <a:t>Review a small change proposed with AI.</a:t>
            </a:r>
          </a:p>
        </p:txBody>
      </p:sp>
      <p:sp>
        <p:nvSpPr>
          <p:cNvPr id="8" name="TextBox 7">
            <a:extLst>
              <a:ext uri="{FF2B5EF4-FFF2-40B4-BE49-F238E27FC236}">
                <a16:creationId xmlns:a16="http://schemas.microsoft.com/office/drawing/2014/main" id="{99B0521B-BEEF-E15B-A3FE-512F902FCB4B}"/>
              </a:ext>
            </a:extLst>
          </p:cNvPr>
          <p:cNvSpPr txBox="1"/>
          <p:nvPr/>
        </p:nvSpPr>
        <p:spPr>
          <a:xfrm>
            <a:off x="609600" y="3076574"/>
            <a:ext cx="609600" cy="438150"/>
          </a:xfrm>
          <a:prstGeom prst="rect">
            <a:avLst/>
          </a:prstGeom>
          <a:noFill/>
        </p:spPr>
        <p:txBody>
          <a:bodyPr vert="horz" wrap="square" lIns="0" tIns="0" rIns="0" bIns="0" rtlCol="0">
            <a:noAutofit/>
          </a:bodyPr>
          <a:lstStyle/>
          <a:p>
            <a:pPr>
              <a:spcAft>
                <a:spcPts val="525"/>
              </a:spcAft>
            </a:pPr>
            <a:r>
              <a:rPr lang="en-US" sz="2250" b="1">
                <a:solidFill>
                  <a:srgbClr val="D89E2B"/>
                </a:solidFill>
                <a:latin typeface="Arial" panose="020B0604020202020204" pitchFamily="34" charset="0"/>
              </a:rPr>
              <a:t>03</a:t>
            </a:r>
          </a:p>
        </p:txBody>
      </p:sp>
      <p:sp>
        <p:nvSpPr>
          <p:cNvPr id="9" name="TextBox 8">
            <a:extLst>
              <a:ext uri="{FF2B5EF4-FFF2-40B4-BE49-F238E27FC236}">
                <a16:creationId xmlns:a16="http://schemas.microsoft.com/office/drawing/2014/main" id="{097B1309-6939-97C2-AA17-3A280E9334DD}"/>
              </a:ext>
            </a:extLst>
          </p:cNvPr>
          <p:cNvSpPr txBox="1"/>
          <p:nvPr/>
        </p:nvSpPr>
        <p:spPr>
          <a:xfrm>
            <a:off x="1476375" y="3076575"/>
            <a:ext cx="2095500" cy="447675"/>
          </a:xfrm>
          <a:prstGeom prst="rect">
            <a:avLst/>
          </a:prstGeom>
          <a:noFill/>
        </p:spPr>
        <p:txBody>
          <a:bodyPr vert="horz" wrap="square" lIns="0" tIns="0" rIns="0" bIns="0" rtlCol="0">
            <a:noAutofit/>
          </a:bodyPr>
          <a:lstStyle/>
          <a:p>
            <a:pPr>
              <a:spcAft>
                <a:spcPts val="525"/>
              </a:spcAft>
            </a:pPr>
            <a:r>
              <a:rPr lang="en-US" sz="2400" b="1">
                <a:solidFill>
                  <a:srgbClr val="007F83"/>
                </a:solidFill>
                <a:latin typeface="Arial" panose="020B0604020202020204" pitchFamily="34" charset="0"/>
              </a:rPr>
              <a:t>Build</a:t>
            </a:r>
          </a:p>
        </p:txBody>
      </p:sp>
      <p:sp>
        <p:nvSpPr>
          <p:cNvPr id="10" name="TextBox 9">
            <a:extLst>
              <a:ext uri="{FF2B5EF4-FFF2-40B4-BE49-F238E27FC236}">
                <a16:creationId xmlns:a16="http://schemas.microsoft.com/office/drawing/2014/main" id="{10772132-83D8-E2F3-2B83-1F7FCC7E6A63}"/>
              </a:ext>
            </a:extLst>
          </p:cNvPr>
          <p:cNvSpPr txBox="1"/>
          <p:nvPr/>
        </p:nvSpPr>
        <p:spPr>
          <a:xfrm>
            <a:off x="3952875" y="3076575"/>
            <a:ext cx="7524750" cy="504825"/>
          </a:xfrm>
          <a:prstGeom prst="rect">
            <a:avLst/>
          </a:prstGeom>
          <a:noFill/>
        </p:spPr>
        <p:txBody>
          <a:bodyPr vert="horz" wrap="square" lIns="0" tIns="0" rIns="0" bIns="0" rtlCol="0">
            <a:noAutofit/>
          </a:bodyPr>
          <a:lstStyle/>
          <a:p>
            <a:pPr>
              <a:spcAft>
                <a:spcPts val="525"/>
              </a:spcAft>
            </a:pPr>
            <a:r>
              <a:rPr lang="en-US" sz="2175">
                <a:solidFill>
                  <a:srgbClr val="173B49"/>
                </a:solidFill>
                <a:latin typeface="Arial" panose="020B0604020202020204" pitchFamily="34" charset="0"/>
              </a:rPr>
              <a:t>Revise one activity using invented data.</a:t>
            </a:r>
          </a:p>
        </p:txBody>
      </p:sp>
      <p:sp>
        <p:nvSpPr>
          <p:cNvPr id="11" name="TextBox 10">
            <a:extLst>
              <a:ext uri="{FF2B5EF4-FFF2-40B4-BE49-F238E27FC236}">
                <a16:creationId xmlns:a16="http://schemas.microsoft.com/office/drawing/2014/main" id="{92BF7B86-FABB-6502-FBD2-485EAC1DF08A}"/>
              </a:ext>
            </a:extLst>
          </p:cNvPr>
          <p:cNvSpPr txBox="1"/>
          <p:nvPr/>
        </p:nvSpPr>
        <p:spPr>
          <a:xfrm>
            <a:off x="609600" y="3829049"/>
            <a:ext cx="609600" cy="438150"/>
          </a:xfrm>
          <a:prstGeom prst="rect">
            <a:avLst/>
          </a:prstGeom>
          <a:noFill/>
        </p:spPr>
        <p:txBody>
          <a:bodyPr vert="horz" wrap="square" lIns="0" tIns="0" rIns="0" bIns="0" rtlCol="0">
            <a:noAutofit/>
          </a:bodyPr>
          <a:lstStyle/>
          <a:p>
            <a:pPr>
              <a:spcAft>
                <a:spcPts val="525"/>
              </a:spcAft>
            </a:pPr>
            <a:r>
              <a:rPr lang="en-US" sz="2250" b="1">
                <a:solidFill>
                  <a:srgbClr val="D89E2B"/>
                </a:solidFill>
                <a:latin typeface="Arial" panose="020B0604020202020204" pitchFamily="34" charset="0"/>
              </a:rPr>
              <a:t>04</a:t>
            </a:r>
          </a:p>
        </p:txBody>
      </p:sp>
      <p:sp>
        <p:nvSpPr>
          <p:cNvPr id="12" name="TextBox 11">
            <a:extLst>
              <a:ext uri="{FF2B5EF4-FFF2-40B4-BE49-F238E27FC236}">
                <a16:creationId xmlns:a16="http://schemas.microsoft.com/office/drawing/2014/main" id="{3A74949C-32C4-67AB-DA18-098E186FF340}"/>
              </a:ext>
            </a:extLst>
          </p:cNvPr>
          <p:cNvSpPr txBox="1"/>
          <p:nvPr/>
        </p:nvSpPr>
        <p:spPr>
          <a:xfrm>
            <a:off x="1476375" y="3829050"/>
            <a:ext cx="2095500" cy="447675"/>
          </a:xfrm>
          <a:prstGeom prst="rect">
            <a:avLst/>
          </a:prstGeom>
          <a:noFill/>
        </p:spPr>
        <p:txBody>
          <a:bodyPr vert="horz" wrap="square" lIns="0" tIns="0" rIns="0" bIns="0" rtlCol="0">
            <a:noAutofit/>
          </a:bodyPr>
          <a:lstStyle/>
          <a:p>
            <a:pPr>
              <a:spcAft>
                <a:spcPts val="525"/>
              </a:spcAft>
            </a:pPr>
            <a:r>
              <a:rPr lang="en-US" sz="2400" b="1">
                <a:solidFill>
                  <a:srgbClr val="007F83"/>
                </a:solidFill>
                <a:latin typeface="Arial" panose="020B0604020202020204" pitchFamily="34" charset="0"/>
              </a:rPr>
              <a:t>Try</a:t>
            </a:r>
          </a:p>
        </p:txBody>
      </p:sp>
      <p:sp>
        <p:nvSpPr>
          <p:cNvPr id="13" name="TextBox 12">
            <a:extLst>
              <a:ext uri="{FF2B5EF4-FFF2-40B4-BE49-F238E27FC236}">
                <a16:creationId xmlns:a16="http://schemas.microsoft.com/office/drawing/2014/main" id="{9D51E1A8-3229-99C0-3C8C-7D6A379BEB00}"/>
              </a:ext>
            </a:extLst>
          </p:cNvPr>
          <p:cNvSpPr txBox="1"/>
          <p:nvPr/>
        </p:nvSpPr>
        <p:spPr>
          <a:xfrm>
            <a:off x="3952875" y="3829050"/>
            <a:ext cx="7524750" cy="504825"/>
          </a:xfrm>
          <a:prstGeom prst="rect">
            <a:avLst/>
          </a:prstGeom>
          <a:noFill/>
        </p:spPr>
        <p:txBody>
          <a:bodyPr vert="horz" wrap="square" lIns="0" tIns="0" rIns="0" bIns="0" rtlCol="0">
            <a:noAutofit/>
          </a:bodyPr>
          <a:lstStyle/>
          <a:p>
            <a:pPr>
              <a:spcAft>
                <a:spcPts val="525"/>
              </a:spcAft>
            </a:pPr>
            <a:r>
              <a:rPr lang="en-US" sz="2175">
                <a:solidFill>
                  <a:srgbClr val="173B49"/>
                </a:solidFill>
                <a:latin typeface="Arial" panose="020B0604020202020204" pitchFamily="34" charset="0"/>
              </a:rPr>
              <a:t>Check correct, incorrect, and empty answers.</a:t>
            </a:r>
          </a:p>
        </p:txBody>
      </p:sp>
      <p:sp>
        <p:nvSpPr>
          <p:cNvPr id="14" name="TextBox 13">
            <a:extLst>
              <a:ext uri="{FF2B5EF4-FFF2-40B4-BE49-F238E27FC236}">
                <a16:creationId xmlns:a16="http://schemas.microsoft.com/office/drawing/2014/main" id="{C271B435-0135-E870-45A6-93C76537CEA3}"/>
              </a:ext>
            </a:extLst>
          </p:cNvPr>
          <p:cNvSpPr txBox="1"/>
          <p:nvPr/>
        </p:nvSpPr>
        <p:spPr>
          <a:xfrm>
            <a:off x="609600" y="4581524"/>
            <a:ext cx="609600" cy="438150"/>
          </a:xfrm>
          <a:prstGeom prst="rect">
            <a:avLst/>
          </a:prstGeom>
          <a:noFill/>
        </p:spPr>
        <p:txBody>
          <a:bodyPr vert="horz" wrap="square" lIns="0" tIns="0" rIns="0" bIns="0" rtlCol="0">
            <a:noAutofit/>
          </a:bodyPr>
          <a:lstStyle/>
          <a:p>
            <a:pPr>
              <a:spcAft>
                <a:spcPts val="525"/>
              </a:spcAft>
            </a:pPr>
            <a:r>
              <a:rPr lang="en-US" sz="2250" b="1">
                <a:solidFill>
                  <a:srgbClr val="D89E2B"/>
                </a:solidFill>
                <a:latin typeface="Arial" panose="020B0604020202020204" pitchFamily="34" charset="0"/>
              </a:rPr>
              <a:t>05</a:t>
            </a:r>
          </a:p>
        </p:txBody>
      </p:sp>
      <p:sp>
        <p:nvSpPr>
          <p:cNvPr id="15" name="TextBox 14">
            <a:extLst>
              <a:ext uri="{FF2B5EF4-FFF2-40B4-BE49-F238E27FC236}">
                <a16:creationId xmlns:a16="http://schemas.microsoft.com/office/drawing/2014/main" id="{ADFEEE1F-800B-6478-1C78-EED63C5C7978}"/>
              </a:ext>
            </a:extLst>
          </p:cNvPr>
          <p:cNvSpPr txBox="1"/>
          <p:nvPr/>
        </p:nvSpPr>
        <p:spPr>
          <a:xfrm>
            <a:off x="1476375" y="4581525"/>
            <a:ext cx="2095500" cy="447675"/>
          </a:xfrm>
          <a:prstGeom prst="rect">
            <a:avLst/>
          </a:prstGeom>
          <a:noFill/>
        </p:spPr>
        <p:txBody>
          <a:bodyPr vert="horz" wrap="square" lIns="0" tIns="0" rIns="0" bIns="0" rtlCol="0">
            <a:noAutofit/>
          </a:bodyPr>
          <a:lstStyle/>
          <a:p>
            <a:pPr>
              <a:spcAft>
                <a:spcPts val="525"/>
              </a:spcAft>
            </a:pPr>
            <a:r>
              <a:rPr lang="en-US" sz="2400" b="1">
                <a:solidFill>
                  <a:srgbClr val="007F83"/>
                </a:solidFill>
                <a:latin typeface="Arial" panose="020B0604020202020204" pitchFamily="34" charset="0"/>
              </a:rPr>
              <a:t>Review</a:t>
            </a:r>
          </a:p>
        </p:txBody>
      </p:sp>
      <p:sp>
        <p:nvSpPr>
          <p:cNvPr id="16" name="TextBox 15">
            <a:extLst>
              <a:ext uri="{FF2B5EF4-FFF2-40B4-BE49-F238E27FC236}">
                <a16:creationId xmlns:a16="http://schemas.microsoft.com/office/drawing/2014/main" id="{9FCA689E-5588-7958-B307-1FCE552F6A91}"/>
              </a:ext>
            </a:extLst>
          </p:cNvPr>
          <p:cNvSpPr txBox="1"/>
          <p:nvPr/>
        </p:nvSpPr>
        <p:spPr>
          <a:xfrm>
            <a:off x="3952875" y="4581525"/>
            <a:ext cx="7524750" cy="504825"/>
          </a:xfrm>
          <a:prstGeom prst="rect">
            <a:avLst/>
          </a:prstGeom>
          <a:noFill/>
        </p:spPr>
        <p:txBody>
          <a:bodyPr vert="horz" wrap="square" lIns="0" tIns="0" rIns="0" bIns="0" rtlCol="0">
            <a:noAutofit/>
          </a:bodyPr>
          <a:lstStyle/>
          <a:p>
            <a:pPr>
              <a:spcAft>
                <a:spcPts val="525"/>
              </a:spcAft>
            </a:pPr>
            <a:r>
              <a:rPr lang="en-US" sz="2175">
                <a:solidFill>
                  <a:srgbClr val="173B49"/>
                </a:solidFill>
                <a:latin typeface="Arial" panose="020B0604020202020204" pitchFamily="34" charset="0"/>
              </a:rPr>
              <a:t>Check meaning, usability, and saved work.</a:t>
            </a:r>
          </a:p>
        </p:txBody>
      </p:sp>
      <p:sp>
        <p:nvSpPr>
          <p:cNvPr id="17" name="TextBox 16">
            <a:extLst>
              <a:ext uri="{FF2B5EF4-FFF2-40B4-BE49-F238E27FC236}">
                <a16:creationId xmlns:a16="http://schemas.microsoft.com/office/drawing/2014/main" id="{74A3CC4B-E0A9-3B32-D4EF-4F6CBB9E630B}"/>
              </a:ext>
            </a:extLst>
          </p:cNvPr>
          <p:cNvSpPr txBox="1"/>
          <p:nvPr/>
        </p:nvSpPr>
        <p:spPr>
          <a:xfrm>
            <a:off x="609600" y="5333999"/>
            <a:ext cx="609600" cy="438150"/>
          </a:xfrm>
          <a:prstGeom prst="rect">
            <a:avLst/>
          </a:prstGeom>
          <a:noFill/>
        </p:spPr>
        <p:txBody>
          <a:bodyPr vert="horz" wrap="square" lIns="0" tIns="0" rIns="0" bIns="0" rtlCol="0">
            <a:noAutofit/>
          </a:bodyPr>
          <a:lstStyle/>
          <a:p>
            <a:pPr>
              <a:spcAft>
                <a:spcPts val="525"/>
              </a:spcAft>
            </a:pPr>
            <a:r>
              <a:rPr lang="en-US" sz="2250" b="1">
                <a:solidFill>
                  <a:srgbClr val="D89E2B"/>
                </a:solidFill>
                <a:latin typeface="Arial" panose="020B0604020202020204" pitchFamily="34" charset="0"/>
              </a:rPr>
              <a:t>06</a:t>
            </a:r>
          </a:p>
        </p:txBody>
      </p:sp>
      <p:sp>
        <p:nvSpPr>
          <p:cNvPr id="18" name="TextBox 17">
            <a:extLst>
              <a:ext uri="{FF2B5EF4-FFF2-40B4-BE49-F238E27FC236}">
                <a16:creationId xmlns:a16="http://schemas.microsoft.com/office/drawing/2014/main" id="{77B58CB7-890B-1213-8D36-E9E0C062A1C6}"/>
              </a:ext>
            </a:extLst>
          </p:cNvPr>
          <p:cNvSpPr txBox="1"/>
          <p:nvPr/>
        </p:nvSpPr>
        <p:spPr>
          <a:xfrm>
            <a:off x="1476375" y="5334000"/>
            <a:ext cx="2095500" cy="447675"/>
          </a:xfrm>
          <a:prstGeom prst="rect">
            <a:avLst/>
          </a:prstGeom>
          <a:noFill/>
        </p:spPr>
        <p:txBody>
          <a:bodyPr vert="horz" wrap="square" lIns="0" tIns="0" rIns="0" bIns="0" rtlCol="0">
            <a:noAutofit/>
          </a:bodyPr>
          <a:lstStyle/>
          <a:p>
            <a:pPr>
              <a:spcAft>
                <a:spcPts val="525"/>
              </a:spcAft>
            </a:pPr>
            <a:r>
              <a:rPr lang="en-US" sz="2400" b="1">
                <a:solidFill>
                  <a:srgbClr val="007F83"/>
                </a:solidFill>
                <a:latin typeface="Arial" panose="020B0604020202020204" pitchFamily="34" charset="0"/>
              </a:rPr>
              <a:t>Publish</a:t>
            </a:r>
          </a:p>
        </p:txBody>
      </p:sp>
      <p:sp>
        <p:nvSpPr>
          <p:cNvPr id="19" name="TextBox 18">
            <a:extLst>
              <a:ext uri="{FF2B5EF4-FFF2-40B4-BE49-F238E27FC236}">
                <a16:creationId xmlns:a16="http://schemas.microsoft.com/office/drawing/2014/main" id="{3AB06251-195C-A027-2E80-47050D552081}"/>
              </a:ext>
            </a:extLst>
          </p:cNvPr>
          <p:cNvSpPr txBox="1"/>
          <p:nvPr/>
        </p:nvSpPr>
        <p:spPr>
          <a:xfrm>
            <a:off x="3952875" y="5334000"/>
            <a:ext cx="7524750" cy="504825"/>
          </a:xfrm>
          <a:prstGeom prst="rect">
            <a:avLst/>
          </a:prstGeom>
          <a:noFill/>
        </p:spPr>
        <p:txBody>
          <a:bodyPr vert="horz" wrap="square" lIns="0" tIns="0" rIns="0" bIns="0" rtlCol="0">
            <a:noAutofit/>
          </a:bodyPr>
          <a:lstStyle/>
          <a:p>
            <a:pPr>
              <a:spcAft>
                <a:spcPts val="525"/>
              </a:spcAft>
            </a:pPr>
            <a:r>
              <a:rPr lang="en-US" sz="2175">
                <a:solidFill>
                  <a:srgbClr val="173B49"/>
                </a:solidFill>
                <a:latin typeface="Arial" panose="020B0604020202020204" pitchFamily="34" charset="0"/>
              </a:rPr>
              <a:t>Share the reviewed version and verify it live.</a:t>
            </a:r>
          </a:p>
        </p:txBody>
      </p:sp>
      <p:sp>
        <p:nvSpPr>
          <p:cNvPr id="20" name="TextBox 19">
            <a:extLst>
              <a:ext uri="{FF2B5EF4-FFF2-40B4-BE49-F238E27FC236}">
                <a16:creationId xmlns:a16="http://schemas.microsoft.com/office/drawing/2014/main" id="{D2F40FD0-20BC-88A8-E3AA-3738EF34CE1C}"/>
              </a:ext>
            </a:extLst>
          </p:cNvPr>
          <p:cNvSpPr txBox="1"/>
          <p:nvPr/>
        </p:nvSpPr>
        <p:spPr>
          <a:xfrm>
            <a:off x="609600" y="400050"/>
            <a:ext cx="10972800" cy="714375"/>
          </a:xfrm>
          <a:prstGeom prst="rect">
            <a:avLst/>
          </a:prstGeom>
          <a:noFill/>
        </p:spPr>
        <p:txBody>
          <a:bodyPr vert="horz" wrap="square" lIns="0" tIns="0" rIns="0" bIns="0" rtlCol="0">
            <a:noAutofit/>
          </a:bodyPr>
          <a:lstStyle/>
          <a:p>
            <a:pPr>
              <a:spcAft>
                <a:spcPts val="525"/>
              </a:spcAft>
            </a:pPr>
            <a:r>
              <a:rPr lang="en-US" sz="3300" b="1">
                <a:solidFill>
                  <a:srgbClr val="173B49"/>
                </a:solidFill>
                <a:latin typeface="Arial" panose="020B0604020202020204" pitchFamily="34" charset="0"/>
              </a:rPr>
              <a:t>A typical improvement workflow</a:t>
            </a:r>
          </a:p>
        </p:txBody>
      </p:sp>
      <p:sp>
        <p:nvSpPr>
          <p:cNvPr id="21" name="Rectangle 20">
            <a:extLst>
              <a:ext uri="{FF2B5EF4-FFF2-40B4-BE49-F238E27FC236}">
                <a16:creationId xmlns:a16="http://schemas.microsoft.com/office/drawing/2014/main" id="{CD71A4D6-6A3A-EF0F-7B7C-031FE92FCE0C}"/>
              </a:ext>
            </a:extLst>
          </p:cNvPr>
          <p:cNvSpPr/>
          <p:nvPr/>
        </p:nvSpPr>
        <p:spPr>
          <a:xfrm>
            <a:off x="609600" y="1200150"/>
            <a:ext cx="666750" cy="38100"/>
          </a:xfrm>
          <a:prstGeom prst="rect">
            <a:avLst/>
          </a:prstGeom>
          <a:solidFill>
            <a:srgbClr val="D89E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DF04D5C-4969-2113-83FF-05D9D71E0869}"/>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52656E"/>
                </a:solidFill>
                <a:latin typeface="Arial" panose="020B0604020202020204" pitchFamily="34" charset="0"/>
              </a:rPr>
              <a:t>14</a:t>
            </a:r>
          </a:p>
        </p:txBody>
      </p:sp>
    </p:spTree>
    <p:extLst>
      <p:ext uri="{BB962C8B-B14F-4D97-AF65-F5344CB8AC3E}">
        <p14:creationId xmlns:p14="http://schemas.microsoft.com/office/powerpoint/2010/main" val="2022281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D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F4FF0A-AD66-FFC0-34CC-9029B2E93BD6}"/>
              </a:ext>
            </a:extLst>
          </p:cNvPr>
          <p:cNvSpPr txBox="1"/>
          <p:nvPr/>
        </p:nvSpPr>
        <p:spPr>
          <a:xfrm>
            <a:off x="609600" y="1685925"/>
            <a:ext cx="3333750" cy="790575"/>
          </a:xfrm>
          <a:prstGeom prst="rect">
            <a:avLst/>
          </a:prstGeom>
          <a:noFill/>
        </p:spPr>
        <p:txBody>
          <a:bodyPr vert="horz" wrap="square" lIns="0" tIns="0" rIns="0" bIns="0" rtlCol="0">
            <a:noAutofit/>
          </a:bodyPr>
          <a:lstStyle/>
          <a:p>
            <a:pPr>
              <a:spcAft>
                <a:spcPts val="525"/>
              </a:spcAft>
            </a:pPr>
            <a:r>
              <a:rPr lang="en-US" sz="2175" b="1">
                <a:solidFill>
                  <a:srgbClr val="007F83"/>
                </a:solidFill>
                <a:latin typeface="Arial" panose="020B0604020202020204" pitchFamily="34" charset="0"/>
              </a:rPr>
              <a:t>Public health meaning</a:t>
            </a:r>
          </a:p>
        </p:txBody>
      </p:sp>
      <p:sp>
        <p:nvSpPr>
          <p:cNvPr id="3" name="TextBox 2">
            <a:extLst>
              <a:ext uri="{FF2B5EF4-FFF2-40B4-BE49-F238E27FC236}">
                <a16:creationId xmlns:a16="http://schemas.microsoft.com/office/drawing/2014/main" id="{8108DECE-81C2-4874-1745-A88C20F0F4BA}"/>
              </a:ext>
            </a:extLst>
          </p:cNvPr>
          <p:cNvSpPr txBox="1"/>
          <p:nvPr/>
        </p:nvSpPr>
        <p:spPr>
          <a:xfrm>
            <a:off x="4333875" y="1685924"/>
            <a:ext cx="7191375" cy="819150"/>
          </a:xfrm>
          <a:prstGeom prst="rect">
            <a:avLst/>
          </a:prstGeom>
          <a:noFill/>
        </p:spPr>
        <p:txBody>
          <a:bodyPr vert="horz" wrap="square" lIns="0" tIns="0" rIns="0" bIns="0" rtlCol="0">
            <a:noAutofit/>
          </a:bodyPr>
          <a:lstStyle/>
          <a:p>
            <a:pPr>
              <a:spcAft>
                <a:spcPts val="525"/>
              </a:spcAft>
            </a:pPr>
            <a:r>
              <a:rPr lang="en-US" sz="2250">
                <a:solidFill>
                  <a:srgbClr val="173B49"/>
                </a:solidFill>
                <a:latin typeface="Arial" panose="020B0604020202020204" pitchFamily="34" charset="0"/>
              </a:rPr>
              <a:t>Do the categories answer the intended question?</a:t>
            </a:r>
          </a:p>
        </p:txBody>
      </p:sp>
      <p:sp>
        <p:nvSpPr>
          <p:cNvPr id="4" name="TextBox 3">
            <a:extLst>
              <a:ext uri="{FF2B5EF4-FFF2-40B4-BE49-F238E27FC236}">
                <a16:creationId xmlns:a16="http://schemas.microsoft.com/office/drawing/2014/main" id="{3B9E05F6-EE95-A674-0047-57BA8ADF2CB7}"/>
              </a:ext>
            </a:extLst>
          </p:cNvPr>
          <p:cNvSpPr txBox="1"/>
          <p:nvPr/>
        </p:nvSpPr>
        <p:spPr>
          <a:xfrm>
            <a:off x="609600" y="2695575"/>
            <a:ext cx="3333750" cy="790575"/>
          </a:xfrm>
          <a:prstGeom prst="rect">
            <a:avLst/>
          </a:prstGeom>
          <a:noFill/>
        </p:spPr>
        <p:txBody>
          <a:bodyPr vert="horz" wrap="square" lIns="0" tIns="0" rIns="0" bIns="0" rtlCol="0">
            <a:noAutofit/>
          </a:bodyPr>
          <a:lstStyle/>
          <a:p>
            <a:pPr>
              <a:spcAft>
                <a:spcPts val="525"/>
              </a:spcAft>
            </a:pPr>
            <a:r>
              <a:rPr lang="en-US" sz="2175" b="1">
                <a:solidFill>
                  <a:srgbClr val="007F83"/>
                </a:solidFill>
                <a:latin typeface="Arial" panose="020B0604020202020204" pitchFamily="34" charset="0"/>
              </a:rPr>
              <a:t>Results and feedback</a:t>
            </a:r>
          </a:p>
        </p:txBody>
      </p:sp>
      <p:sp>
        <p:nvSpPr>
          <p:cNvPr id="5" name="TextBox 4">
            <a:extLst>
              <a:ext uri="{FF2B5EF4-FFF2-40B4-BE49-F238E27FC236}">
                <a16:creationId xmlns:a16="http://schemas.microsoft.com/office/drawing/2014/main" id="{42F8B9ED-88D6-7CA8-0542-4322B61EB891}"/>
              </a:ext>
            </a:extLst>
          </p:cNvPr>
          <p:cNvSpPr txBox="1"/>
          <p:nvPr/>
        </p:nvSpPr>
        <p:spPr>
          <a:xfrm>
            <a:off x="4333875" y="2695574"/>
            <a:ext cx="7191375" cy="819150"/>
          </a:xfrm>
          <a:prstGeom prst="rect">
            <a:avLst/>
          </a:prstGeom>
          <a:noFill/>
        </p:spPr>
        <p:txBody>
          <a:bodyPr vert="horz" wrap="square" lIns="0" tIns="0" rIns="0" bIns="0" rtlCol="0">
            <a:noAutofit/>
          </a:bodyPr>
          <a:lstStyle/>
          <a:p>
            <a:pPr>
              <a:spcAft>
                <a:spcPts val="525"/>
              </a:spcAft>
            </a:pPr>
            <a:r>
              <a:rPr lang="en-US" sz="2250">
                <a:solidFill>
                  <a:srgbClr val="173B49"/>
                </a:solidFill>
                <a:latin typeface="Arial" panose="020B0604020202020204" pitchFamily="34" charset="0"/>
              </a:rPr>
              <a:t>Do the calculation, label, and explanation agree?</a:t>
            </a:r>
          </a:p>
        </p:txBody>
      </p:sp>
      <p:sp>
        <p:nvSpPr>
          <p:cNvPr id="6" name="TextBox 5">
            <a:extLst>
              <a:ext uri="{FF2B5EF4-FFF2-40B4-BE49-F238E27FC236}">
                <a16:creationId xmlns:a16="http://schemas.microsoft.com/office/drawing/2014/main" id="{9F75F857-F6E5-1430-EDE4-B5579249B227}"/>
              </a:ext>
            </a:extLst>
          </p:cNvPr>
          <p:cNvSpPr txBox="1"/>
          <p:nvPr/>
        </p:nvSpPr>
        <p:spPr>
          <a:xfrm>
            <a:off x="609600" y="3705225"/>
            <a:ext cx="3333750" cy="790575"/>
          </a:xfrm>
          <a:prstGeom prst="rect">
            <a:avLst/>
          </a:prstGeom>
          <a:noFill/>
        </p:spPr>
        <p:txBody>
          <a:bodyPr vert="horz" wrap="square" lIns="0" tIns="0" rIns="0" bIns="0" rtlCol="0">
            <a:noAutofit/>
          </a:bodyPr>
          <a:lstStyle/>
          <a:p>
            <a:pPr>
              <a:spcAft>
                <a:spcPts val="525"/>
              </a:spcAft>
            </a:pPr>
            <a:r>
              <a:rPr lang="en-US" sz="2175" b="1">
                <a:solidFill>
                  <a:srgbClr val="007F83"/>
                </a:solidFill>
                <a:latin typeface="Arial" panose="020B0604020202020204" pitchFamily="34" charset="0"/>
              </a:rPr>
              <a:t>Supporting sources</a:t>
            </a:r>
          </a:p>
        </p:txBody>
      </p:sp>
      <p:sp>
        <p:nvSpPr>
          <p:cNvPr id="7" name="TextBox 6">
            <a:extLst>
              <a:ext uri="{FF2B5EF4-FFF2-40B4-BE49-F238E27FC236}">
                <a16:creationId xmlns:a16="http://schemas.microsoft.com/office/drawing/2014/main" id="{103AE0EF-0DA8-8686-8E2B-9937A317781A}"/>
              </a:ext>
            </a:extLst>
          </p:cNvPr>
          <p:cNvSpPr txBox="1"/>
          <p:nvPr/>
        </p:nvSpPr>
        <p:spPr>
          <a:xfrm>
            <a:off x="4333875" y="3705224"/>
            <a:ext cx="7191375" cy="819150"/>
          </a:xfrm>
          <a:prstGeom prst="rect">
            <a:avLst/>
          </a:prstGeom>
          <a:noFill/>
        </p:spPr>
        <p:txBody>
          <a:bodyPr vert="horz" wrap="square" lIns="0" tIns="0" rIns="0" bIns="0" rtlCol="0">
            <a:noAutofit/>
          </a:bodyPr>
          <a:lstStyle/>
          <a:p>
            <a:pPr>
              <a:spcAft>
                <a:spcPts val="525"/>
              </a:spcAft>
            </a:pPr>
            <a:r>
              <a:rPr lang="en-US" sz="2250">
                <a:solidFill>
                  <a:srgbClr val="173B49"/>
                </a:solidFill>
                <a:latin typeface="Arial" panose="020B0604020202020204" pitchFamily="34" charset="0"/>
              </a:rPr>
              <a:t>Does each reference support the claim?</a:t>
            </a:r>
          </a:p>
        </p:txBody>
      </p:sp>
      <p:sp>
        <p:nvSpPr>
          <p:cNvPr id="8" name="TextBox 7">
            <a:extLst>
              <a:ext uri="{FF2B5EF4-FFF2-40B4-BE49-F238E27FC236}">
                <a16:creationId xmlns:a16="http://schemas.microsoft.com/office/drawing/2014/main" id="{CC069327-867B-AB0E-0390-70A162408AFF}"/>
              </a:ext>
            </a:extLst>
          </p:cNvPr>
          <p:cNvSpPr txBox="1"/>
          <p:nvPr/>
        </p:nvSpPr>
        <p:spPr>
          <a:xfrm>
            <a:off x="609600" y="4714875"/>
            <a:ext cx="3333750" cy="790575"/>
          </a:xfrm>
          <a:prstGeom prst="rect">
            <a:avLst/>
          </a:prstGeom>
          <a:noFill/>
        </p:spPr>
        <p:txBody>
          <a:bodyPr vert="horz" wrap="square" lIns="0" tIns="0" rIns="0" bIns="0" rtlCol="0">
            <a:noAutofit/>
          </a:bodyPr>
          <a:lstStyle/>
          <a:p>
            <a:pPr>
              <a:spcAft>
                <a:spcPts val="525"/>
              </a:spcAft>
            </a:pPr>
            <a:r>
              <a:rPr lang="en-US" sz="2175" b="1">
                <a:solidFill>
                  <a:srgbClr val="007F83"/>
                </a:solidFill>
                <a:latin typeface="Arial" panose="020B0604020202020204" pitchFamily="34" charset="0"/>
              </a:rPr>
              <a:t>A colleague's experience</a:t>
            </a:r>
          </a:p>
        </p:txBody>
      </p:sp>
      <p:sp>
        <p:nvSpPr>
          <p:cNvPr id="9" name="TextBox 8">
            <a:extLst>
              <a:ext uri="{FF2B5EF4-FFF2-40B4-BE49-F238E27FC236}">
                <a16:creationId xmlns:a16="http://schemas.microsoft.com/office/drawing/2014/main" id="{50671718-AB98-DEB3-522B-53DFBDA41378}"/>
              </a:ext>
            </a:extLst>
          </p:cNvPr>
          <p:cNvSpPr txBox="1"/>
          <p:nvPr/>
        </p:nvSpPr>
        <p:spPr>
          <a:xfrm>
            <a:off x="4333875" y="4714874"/>
            <a:ext cx="7191375" cy="819150"/>
          </a:xfrm>
          <a:prstGeom prst="rect">
            <a:avLst/>
          </a:prstGeom>
          <a:noFill/>
        </p:spPr>
        <p:txBody>
          <a:bodyPr vert="horz" wrap="square" lIns="0" tIns="0" rIns="0" bIns="0" rtlCol="0">
            <a:noAutofit/>
          </a:bodyPr>
          <a:lstStyle/>
          <a:p>
            <a:pPr>
              <a:spcAft>
                <a:spcPts val="525"/>
              </a:spcAft>
            </a:pPr>
            <a:r>
              <a:rPr lang="en-US" sz="2250">
                <a:solidFill>
                  <a:srgbClr val="173B49"/>
                </a:solidFill>
                <a:latin typeface="Arial" panose="020B0604020202020204" pitchFamily="34" charset="0"/>
              </a:rPr>
              <a:t>Can someone complete the activity without coaching?</a:t>
            </a:r>
          </a:p>
        </p:txBody>
      </p:sp>
      <p:sp>
        <p:nvSpPr>
          <p:cNvPr id="10" name="TextBox 9">
            <a:extLst>
              <a:ext uri="{FF2B5EF4-FFF2-40B4-BE49-F238E27FC236}">
                <a16:creationId xmlns:a16="http://schemas.microsoft.com/office/drawing/2014/main" id="{33E159EB-6DEA-8086-91BA-DD5FCE86722D}"/>
              </a:ext>
            </a:extLst>
          </p:cNvPr>
          <p:cNvSpPr txBox="1"/>
          <p:nvPr/>
        </p:nvSpPr>
        <p:spPr>
          <a:xfrm>
            <a:off x="609600" y="5943599"/>
            <a:ext cx="10953750" cy="514350"/>
          </a:xfrm>
          <a:prstGeom prst="rect">
            <a:avLst/>
          </a:prstGeom>
          <a:noFill/>
        </p:spPr>
        <p:txBody>
          <a:bodyPr vert="horz" wrap="square" lIns="0" tIns="0" rIns="0" bIns="0" rtlCol="0">
            <a:noAutofit/>
          </a:bodyPr>
          <a:lstStyle/>
          <a:p>
            <a:pPr>
              <a:spcAft>
                <a:spcPts val="525"/>
              </a:spcAft>
            </a:pPr>
            <a:r>
              <a:rPr lang="en-US" sz="2025">
                <a:solidFill>
                  <a:srgbClr val="52656E"/>
                </a:solidFill>
                <a:latin typeface="Arial" panose="020B0604020202020204" pitchFamily="34" charset="0"/>
              </a:rPr>
              <a:t>Contribute the revised activity with a short change and review note.</a:t>
            </a:r>
          </a:p>
        </p:txBody>
      </p:sp>
      <p:sp>
        <p:nvSpPr>
          <p:cNvPr id="11" name="TextBox 10">
            <a:extLst>
              <a:ext uri="{FF2B5EF4-FFF2-40B4-BE49-F238E27FC236}">
                <a16:creationId xmlns:a16="http://schemas.microsoft.com/office/drawing/2014/main" id="{0DC5C418-CFA8-E2FC-B977-08E30E60C894}"/>
              </a:ext>
            </a:extLst>
          </p:cNvPr>
          <p:cNvSpPr txBox="1"/>
          <p:nvPr/>
        </p:nvSpPr>
        <p:spPr>
          <a:xfrm>
            <a:off x="609600" y="400050"/>
            <a:ext cx="10972800" cy="714375"/>
          </a:xfrm>
          <a:prstGeom prst="rect">
            <a:avLst/>
          </a:prstGeom>
          <a:noFill/>
        </p:spPr>
        <p:txBody>
          <a:bodyPr vert="horz" wrap="square" lIns="0" tIns="0" rIns="0" bIns="0" rtlCol="0">
            <a:noAutofit/>
          </a:bodyPr>
          <a:lstStyle/>
          <a:p>
            <a:pPr>
              <a:spcAft>
                <a:spcPts val="525"/>
              </a:spcAft>
            </a:pPr>
            <a:r>
              <a:rPr lang="en-US" sz="3300" b="1">
                <a:solidFill>
                  <a:srgbClr val="173B49"/>
                </a:solidFill>
                <a:latin typeface="Arial" panose="020B0604020202020204" pitchFamily="34" charset="0"/>
              </a:rPr>
              <a:t>Reviewing an AI-assisted contribution</a:t>
            </a:r>
          </a:p>
        </p:txBody>
      </p:sp>
      <p:sp>
        <p:nvSpPr>
          <p:cNvPr id="12" name="Rectangle 11">
            <a:extLst>
              <a:ext uri="{FF2B5EF4-FFF2-40B4-BE49-F238E27FC236}">
                <a16:creationId xmlns:a16="http://schemas.microsoft.com/office/drawing/2014/main" id="{1957DC1E-B659-135C-9DDF-BE89EA7381E8}"/>
              </a:ext>
            </a:extLst>
          </p:cNvPr>
          <p:cNvSpPr/>
          <p:nvPr/>
        </p:nvSpPr>
        <p:spPr>
          <a:xfrm>
            <a:off x="609600" y="1200150"/>
            <a:ext cx="666750" cy="38100"/>
          </a:xfrm>
          <a:prstGeom prst="rect">
            <a:avLst/>
          </a:prstGeom>
          <a:solidFill>
            <a:srgbClr val="D89E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B504014-7FA6-9BC7-CE10-D79A0F5D5CB8}"/>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52656E"/>
                </a:solidFill>
                <a:latin typeface="Arial" panose="020B0604020202020204" pitchFamily="34" charset="0"/>
              </a:rPr>
              <a:t>15</a:t>
            </a:r>
          </a:p>
        </p:txBody>
      </p:sp>
    </p:spTree>
    <p:extLst>
      <p:ext uri="{BB962C8B-B14F-4D97-AF65-F5344CB8AC3E}">
        <p14:creationId xmlns:p14="http://schemas.microsoft.com/office/powerpoint/2010/main" val="3353635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73B4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5440B5-7901-843F-4B69-530E3286250B}"/>
              </a:ext>
            </a:extLst>
          </p:cNvPr>
          <p:cNvSpPr txBox="1"/>
          <p:nvPr/>
        </p:nvSpPr>
        <p:spPr>
          <a:xfrm>
            <a:off x="609600" y="1762124"/>
            <a:ext cx="10810875" cy="533400"/>
          </a:xfrm>
          <a:prstGeom prst="rect">
            <a:avLst/>
          </a:prstGeom>
          <a:noFill/>
        </p:spPr>
        <p:txBody>
          <a:bodyPr vert="horz" wrap="square" lIns="0" tIns="0" rIns="0" bIns="0" rtlCol="0">
            <a:noAutofit/>
          </a:bodyPr>
          <a:lstStyle/>
          <a:p>
            <a:pPr>
              <a:spcAft>
                <a:spcPts val="525"/>
              </a:spcAft>
            </a:pPr>
            <a:r>
              <a:rPr lang="en-US" sz="2850" b="1">
                <a:solidFill>
                  <a:srgbClr val="FFFFFF"/>
                </a:solidFill>
                <a:latin typeface="Arial" panose="020B0604020202020204" pitchFamily="34" charset="0"/>
              </a:rPr>
              <a:t>Could you find where to start?</a:t>
            </a:r>
          </a:p>
        </p:txBody>
      </p:sp>
      <p:sp>
        <p:nvSpPr>
          <p:cNvPr id="3" name="TextBox 2">
            <a:extLst>
              <a:ext uri="{FF2B5EF4-FFF2-40B4-BE49-F238E27FC236}">
                <a16:creationId xmlns:a16="http://schemas.microsoft.com/office/drawing/2014/main" id="{2530F15B-C032-2D5E-0418-C16B0FC623CE}"/>
              </a:ext>
            </a:extLst>
          </p:cNvPr>
          <p:cNvSpPr txBox="1"/>
          <p:nvPr/>
        </p:nvSpPr>
        <p:spPr>
          <a:xfrm>
            <a:off x="609600" y="2733674"/>
            <a:ext cx="10810875" cy="952500"/>
          </a:xfrm>
          <a:prstGeom prst="rect">
            <a:avLst/>
          </a:prstGeom>
          <a:noFill/>
        </p:spPr>
        <p:txBody>
          <a:bodyPr vert="horz" wrap="square" lIns="0" tIns="0" rIns="0" bIns="0" rtlCol="0">
            <a:noAutofit/>
          </a:bodyPr>
          <a:lstStyle/>
          <a:p>
            <a:pPr>
              <a:spcAft>
                <a:spcPts val="525"/>
              </a:spcAft>
            </a:pPr>
            <a:r>
              <a:rPr lang="en-US" sz="2850" b="1">
                <a:solidFill>
                  <a:srgbClr val="FFFFFF"/>
                </a:solidFill>
                <a:latin typeface="Arial" panose="020B0604020202020204" pitchFamily="34" charset="0"/>
              </a:rPr>
              <a:t>Did the feedback help you explain your answer?</a:t>
            </a:r>
          </a:p>
        </p:txBody>
      </p:sp>
      <p:sp>
        <p:nvSpPr>
          <p:cNvPr id="4" name="TextBox 3">
            <a:extLst>
              <a:ext uri="{FF2B5EF4-FFF2-40B4-BE49-F238E27FC236}">
                <a16:creationId xmlns:a16="http://schemas.microsoft.com/office/drawing/2014/main" id="{080D603A-1630-4C57-0359-11B9F7543821}"/>
              </a:ext>
            </a:extLst>
          </p:cNvPr>
          <p:cNvSpPr txBox="1"/>
          <p:nvPr/>
        </p:nvSpPr>
        <p:spPr>
          <a:xfrm>
            <a:off x="609600" y="4086224"/>
            <a:ext cx="10810875" cy="952500"/>
          </a:xfrm>
          <a:prstGeom prst="rect">
            <a:avLst/>
          </a:prstGeom>
          <a:noFill/>
        </p:spPr>
        <p:txBody>
          <a:bodyPr vert="horz" wrap="square" lIns="0" tIns="0" rIns="0" bIns="0" rtlCol="0">
            <a:noAutofit/>
          </a:bodyPr>
          <a:lstStyle/>
          <a:p>
            <a:pPr>
              <a:spcAft>
                <a:spcPts val="525"/>
              </a:spcAft>
            </a:pPr>
            <a:r>
              <a:rPr lang="en-US" sz="2850" b="1">
                <a:solidFill>
                  <a:srgbClr val="FFFFFF"/>
                </a:solidFill>
                <a:latin typeface="Arial" panose="020B0604020202020204" pitchFamily="34" charset="0"/>
              </a:rPr>
              <a:t>What improvement would you contribute?</a:t>
            </a:r>
          </a:p>
        </p:txBody>
      </p:sp>
      <p:sp>
        <p:nvSpPr>
          <p:cNvPr id="5" name="TextBox 4">
            <a:extLst>
              <a:ext uri="{FF2B5EF4-FFF2-40B4-BE49-F238E27FC236}">
                <a16:creationId xmlns:a16="http://schemas.microsoft.com/office/drawing/2014/main" id="{D57BB0DF-4D11-B796-FCE0-5642891F60A9}"/>
              </a:ext>
            </a:extLst>
          </p:cNvPr>
          <p:cNvSpPr txBox="1"/>
          <p:nvPr/>
        </p:nvSpPr>
        <p:spPr>
          <a:xfrm>
            <a:off x="609600" y="5534025"/>
            <a:ext cx="10810875" cy="428625"/>
          </a:xfrm>
          <a:prstGeom prst="rect">
            <a:avLst/>
          </a:prstGeom>
          <a:noFill/>
        </p:spPr>
        <p:txBody>
          <a:bodyPr vert="horz" wrap="square" lIns="0" tIns="0" rIns="0" bIns="0" rtlCol="0">
            <a:noAutofit/>
          </a:bodyPr>
          <a:lstStyle/>
          <a:p>
            <a:pPr>
              <a:spcAft>
                <a:spcPts val="525"/>
              </a:spcAft>
            </a:pPr>
            <a:r>
              <a:rPr lang="en-US" sz="2175">
                <a:solidFill>
                  <a:srgbClr val="B8E5DF"/>
                </a:solidFill>
                <a:latin typeface="Arial" panose="020B0604020202020204" pitchFamily="34" charset="0"/>
                <a:hlinkClick r:id="rId3">
                  <a:extLst>
                    <a:ext uri="{A12FA001-AC4F-418D-AE19-62706E023703}">
                      <ahyp:hlinkClr xmlns:ahyp="http://schemas.microsoft.com/office/drawing/2018/hyperlinkcolor" val="tx"/>
                    </a:ext>
                  </a:extLst>
                </a:hlinkClick>
              </a:rPr>
              <a:t>Choose one activity to review and improve</a:t>
            </a:r>
            <a:endParaRPr lang="en-US" sz="2175">
              <a:solidFill>
                <a:srgbClr val="B8E5DF"/>
              </a:solidFill>
              <a:latin typeface="Arial" panose="020B0604020202020204" pitchFamily="34" charset="0"/>
            </a:endParaRPr>
          </a:p>
        </p:txBody>
      </p:sp>
      <p:sp>
        <p:nvSpPr>
          <p:cNvPr id="6" name="TextBox 5">
            <a:extLst>
              <a:ext uri="{FF2B5EF4-FFF2-40B4-BE49-F238E27FC236}">
                <a16:creationId xmlns:a16="http://schemas.microsoft.com/office/drawing/2014/main" id="{65073BE6-C8B2-3014-49B8-F24014537B29}"/>
              </a:ext>
            </a:extLst>
          </p:cNvPr>
          <p:cNvSpPr txBox="1"/>
          <p:nvPr/>
        </p:nvSpPr>
        <p:spPr>
          <a:xfrm>
            <a:off x="609600" y="6048374"/>
            <a:ext cx="10810875" cy="304800"/>
          </a:xfrm>
          <a:prstGeom prst="rect">
            <a:avLst/>
          </a:prstGeom>
          <a:noFill/>
        </p:spPr>
        <p:txBody>
          <a:bodyPr vert="horz" wrap="square" lIns="0" tIns="0" rIns="0" bIns="0" rtlCol="0">
            <a:noAutofit/>
          </a:bodyPr>
          <a:lstStyle/>
          <a:p>
            <a:pPr>
              <a:spcAft>
                <a:spcPts val="525"/>
              </a:spcAft>
            </a:pPr>
            <a:r>
              <a:rPr lang="en-US" sz="1650">
                <a:solidFill>
                  <a:srgbClr val="B8E5DF"/>
                </a:solidFill>
                <a:latin typeface="Arial" panose="020B0604020202020204" pitchFamily="34" charset="0"/>
                <a:hlinkClick r:id="rId4">
                  <a:extLst>
                    <a:ext uri="{A12FA001-AC4F-418D-AE19-62706E023703}">
                      <ahyp:hlinkClr xmlns:ahyp="http://schemas.microsoft.com/office/drawing/2018/hyperlinkcolor" val="tx"/>
                    </a:ext>
                  </a:extLst>
                </a:hlinkClick>
              </a:rPr>
              <a:t>adaptive-learning-network.github.io/jupyterlite-prototype</a:t>
            </a:r>
            <a:endParaRPr lang="en-US" sz="1650">
              <a:solidFill>
                <a:srgbClr val="B8E5DF"/>
              </a:solidFill>
              <a:latin typeface="Arial" panose="020B0604020202020204" pitchFamily="34" charset="0"/>
            </a:endParaRPr>
          </a:p>
        </p:txBody>
      </p:sp>
      <p:sp>
        <p:nvSpPr>
          <p:cNvPr id="7" name="TextBox 6">
            <a:extLst>
              <a:ext uri="{FF2B5EF4-FFF2-40B4-BE49-F238E27FC236}">
                <a16:creationId xmlns:a16="http://schemas.microsoft.com/office/drawing/2014/main" id="{9372DA0D-6ED8-B950-99E2-CDA0DA76EF60}"/>
              </a:ext>
            </a:extLst>
          </p:cNvPr>
          <p:cNvSpPr txBox="1"/>
          <p:nvPr/>
        </p:nvSpPr>
        <p:spPr>
          <a:xfrm>
            <a:off x="609600" y="400050"/>
            <a:ext cx="10972800" cy="714375"/>
          </a:xfrm>
          <a:prstGeom prst="rect">
            <a:avLst/>
          </a:prstGeom>
          <a:noFill/>
        </p:spPr>
        <p:txBody>
          <a:bodyPr vert="horz" wrap="square" lIns="0" tIns="0" rIns="0" bIns="0" rtlCol="0">
            <a:noAutofit/>
          </a:bodyPr>
          <a:lstStyle/>
          <a:p>
            <a:pPr>
              <a:spcAft>
                <a:spcPts val="525"/>
              </a:spcAft>
            </a:pPr>
            <a:r>
              <a:rPr lang="en-US" sz="3300" b="1">
                <a:solidFill>
                  <a:srgbClr val="FFFFFF"/>
                </a:solidFill>
                <a:latin typeface="Arial" panose="020B0604020202020204" pitchFamily="34" charset="0"/>
              </a:rPr>
              <a:t>Questions for the field test</a:t>
            </a:r>
          </a:p>
        </p:txBody>
      </p:sp>
      <p:sp>
        <p:nvSpPr>
          <p:cNvPr id="8" name="Rectangle 7">
            <a:extLst>
              <a:ext uri="{FF2B5EF4-FFF2-40B4-BE49-F238E27FC236}">
                <a16:creationId xmlns:a16="http://schemas.microsoft.com/office/drawing/2014/main" id="{C493FA52-0E13-EEEB-182F-B035AF6865CA}"/>
              </a:ext>
            </a:extLst>
          </p:cNvPr>
          <p:cNvSpPr/>
          <p:nvPr/>
        </p:nvSpPr>
        <p:spPr>
          <a:xfrm>
            <a:off x="609600" y="1200150"/>
            <a:ext cx="666750" cy="38100"/>
          </a:xfrm>
          <a:prstGeom prst="rect">
            <a:avLst/>
          </a:prstGeom>
          <a:solidFill>
            <a:srgbClr val="D89E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F3A0803-33EC-ED43-8453-1E705B4449DF}"/>
              </a:ext>
            </a:extLst>
          </p:cNvPr>
          <p:cNvSpPr txBox="1"/>
          <p:nvPr/>
        </p:nvSpPr>
        <p:spPr>
          <a:xfrm>
            <a:off x="11191875" y="6448425"/>
            <a:ext cx="381000" cy="247650"/>
          </a:xfrm>
          <a:prstGeom prst="rect">
            <a:avLst/>
          </a:prstGeom>
          <a:noFill/>
        </p:spPr>
        <p:txBody>
          <a:bodyPr vert="horz" wrap="square" lIns="0" tIns="0" rIns="0" bIns="0" rtlCol="0">
            <a:noAutofit/>
          </a:bodyPr>
          <a:lstStyle/>
          <a:p>
            <a:pPr algn="r">
              <a:spcAft>
                <a:spcPts val="525"/>
              </a:spcAft>
            </a:pPr>
            <a:r>
              <a:rPr lang="en-US" sz="1275">
                <a:solidFill>
                  <a:srgbClr val="B7CDCD"/>
                </a:solidFill>
                <a:latin typeface="Arial" panose="020B0604020202020204" pitchFamily="34" charset="0"/>
              </a:rPr>
              <a:t>16</a:t>
            </a:r>
          </a:p>
        </p:txBody>
      </p:sp>
    </p:spTree>
    <p:extLst>
      <p:ext uri="{BB962C8B-B14F-4D97-AF65-F5344CB8AC3E}">
        <p14:creationId xmlns:p14="http://schemas.microsoft.com/office/powerpoint/2010/main" val="19769709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3607</Words>
  <Application>Microsoft Office PowerPoint</Application>
  <PresentationFormat>Custom</PresentationFormat>
  <Paragraphs>205</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Centers for Disease Control and Prevention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Learning public health informatics with interactive notebooks</dc:title>
  <dc:creator>FETP Informatics</dc:creator>
  <cp:lastModifiedBy>FETP Informatics</cp:lastModifiedBy>
  <cp:revision>1</cp:revision>
  <dcterms:created xsi:type="dcterms:W3CDTF">2026-10-27T10:45:35Z</dcterms:created>
  <dcterms:modified xsi:type="dcterms:W3CDTF">2026-10-27T10:45:35Z</dcterms:modified>
</cp:coreProperties>
</file>